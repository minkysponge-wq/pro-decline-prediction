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cd766ad-5e98-4ba0-ea5c-cc5c663894af}">
          <p14:sldIdLst>
            <p14:sldId id="256"/>
            <p14:sldId id="257"/>
            <p14:sldId id="258"/>
          </p14:sldIdLst>
        </p14:section>
        <p14:section name="Data and method" id="{c073bda7-adf9-3cee-b267-36709e7eec59}">
          <p14:sldIdLst>
            <p14:sldId id="259"/>
            <p14:sldId id="260"/>
            <p14:sldId id="261"/>
            <p14:sldId id="262"/>
            <p14:sldId id="263"/>
          </p14:sldIdLst>
        </p14:section>
        <p14:section name="Results" id="{95be3811-1bc9-ea1c-3489-21f4e7f49580}">
          <p14:sldIdLst>
            <p14:sldId id="264"/>
            <p14:sldId id="265"/>
            <p14:sldId id="266"/>
          </p14:sldIdLst>
        </p14:section>
        <p14:section name="Wrap-up" id="{00841e20-4738-8884-aa2d-c6e23bbfa14d}">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B2B2B"/>
                </a:solidFill>
                <a:latin typeface="+mn-lt"/>
              </a:defRPr>
            </a:pPr>
            <a:r>
              <a:rPr sz="1100" b="0" i="0" u="none" strike="noStrike">
                <a:solidFill>
                  <a:srgbClr val="2B2B2B"/>
                </a:solidFill>
                <a:latin typeface="+mn-lt"/>
              </a:rPr>
              <a:t>Cohort selection (patients)</a:t>
            </a:r>
          </a:p>
        </c:rich>
      </c:tx>
      <c:layout/>
      <c:overlay val="0"/>
    </c:title>
    <c:autoTitleDeleted val="0"/>
    <c:plotArea>
      <c:layout/>
      <c:barChart>
        <c:barDir val="col"/>
        <c:grouping val="clustered"/>
        <c:varyColors val="0"/>
        <c:ser>
          <c:idx val="0"/>
          <c:order val="0"/>
          <c:tx>
            <c:strRef>
              <c:f>Sheet1!$B$1</c:f>
              <c:strCache>
                <c:ptCount val="1"/>
                <c:pt idx="0">
                  <c:v>Patients</c:v>
                </c:pt>
              </c:strCache>
            </c:strRef>
          </c:tx>
          <c:spPr>
            <a:solidFill>
              <a:srgbClr val="B85042"/>
            </a:solidFill>
            <a:effectLst/>
          </c:spPr>
          <c:invertIfNegative val="0"/>
          <c:dLbls>
            <c:numFmt formatCode="#,##0" sourceLinked="0"/>
            <c:txPr>
              <a:bodyPr/>
              <a:lstStyle/>
              <a:p>
                <a:pPr>
                  <a:defRPr b="0" i="0" strike="noStrike" sz="1000" u="none">
                    <a:solidFill>
                      <a:srgbClr val="2B2B2B"/>
                    </a:solidFill>
                    <a:latin typeface="+mn-lt"/>
                  </a:defRPr>
                </a:pPr>
              </a:p>
            </c:txPr>
            <c:showLegendKey val="0"/>
            <c:showVal val="1"/>
            <c:showCatName val="0"/>
            <c:showSerName val="0"/>
            <c:showPercent val="0"/>
            <c:showBubbleSize val="0"/>
            <c:showLeaderLines val="0"/>
          </c:dLbls>
          <c:cat>
            <c:multiLvlStrRef>
              <c:f>Sheet1!$A$2:$A$5</c:f>
              <c:multiLvlStrCache>
                <c:ptCount val="4"/>
                <c:lvl>
                  <c:pt idx="0">
                    <c:v>Simulated</c:v>
                  </c:pt>
                  <c:pt idx="1">
                    <c:v>Diagnosed ≥ 2013</c:v>
                  </c:pt>
                  <c:pt idx="2">
                    <c:v>Baseline survey</c:v>
                  </c:pt>
                  <c:pt idx="3">
                    <c:v>On-treatment survey</c:v>
                  </c:pt>
                </c:lvl>
              </c:multiLvlStrCache>
            </c:multiLvlStrRef>
          </c:cat>
          <c:val>
            <c:numRef>
              <c:f>Sheet1!$B$2:$B$5</c:f>
              <c:numCache>
                <c:formatCode>General</c:formatCode>
                <c:ptCount val="4"/>
                <c:pt idx="0">
                  <c:v>1715</c:v>
                </c:pt>
                <c:pt idx="1">
                  <c:v>1493</c:v>
                </c:pt>
                <c:pt idx="2">
                  <c:v>1393</c:v>
                </c:pt>
                <c:pt idx="3">
                  <c:v>1254</c:v>
                </c:pt>
              </c:numCache>
            </c:numRef>
          </c:val>
        </c:ser>
        <c:dLbls>
          <c:numFmt formatCode="#,##0" sourceLinked="0"/>
          <c:txPr>
            <a:bodyPr/>
            <a:lstStyle/>
            <a:p>
              <a:pPr>
                <a:defRPr b="0" i="0" strike="noStrike" sz="1000" u="none">
                  <a:solidFill>
                    <a:srgbClr val="2B2B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45C"/>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6DC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45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2B2B2B"/>
                </a:solidFill>
                <a:latin typeface="+mn-lt"/>
              </a:defRPr>
            </a:pPr>
            <a:r>
              <a:rPr sz="1000" b="0" i="0" u="none" strike="noStrike">
                <a:solidFill>
                  <a:srgbClr val="2B2B2B"/>
                </a:solidFill>
                <a:latin typeface="+mn-lt"/>
              </a:rPr>
              <a:t>Ensemble test AUROC with each feature group removed</a:t>
            </a:r>
          </a:p>
        </c:rich>
      </c:tx>
      <c:layout/>
      <c:overlay val="0"/>
    </c:title>
    <c:autoTitleDeleted val="0"/>
    <c:plotArea>
      <c:layout/>
      <c:barChart>
        <c:barDir val="bar"/>
        <c:grouping val="clustered"/>
        <c:varyColors val="0"/>
        <c:ser>
          <c:idx val="0"/>
          <c:order val="0"/>
          <c:tx>
            <c:strRef>
              <c:f>Sheet1!$B$1</c:f>
              <c:strCache>
                <c:ptCount val="1"/>
                <c:pt idx="0">
                  <c:v>Drop</c:v>
                </c:pt>
              </c:strCache>
            </c:strRef>
          </c:tx>
          <c:spPr>
            <a:solidFill>
              <a:srgbClr val="B85042"/>
            </a:solidFill>
            <a:effectLst/>
          </c:spPr>
          <c:invertIfNegative val="0"/>
          <c:dLbls>
            <c:numFmt formatCode="0.00" sourceLinked="0"/>
            <c:txPr>
              <a:bodyPr/>
              <a:lstStyle/>
              <a:p>
                <a:pPr>
                  <a:defRPr b="0" i="0" strike="noStrike" sz="800" u="none">
                    <a:solidFill>
                      <a:srgbClr val="2B2B2B"/>
                    </a:solidFill>
                    <a:latin typeface="+mn-lt"/>
                  </a:defRPr>
                </a:pPr>
              </a:p>
            </c:txPr>
            <c:showLegendKey val="0"/>
            <c:showVal val="1"/>
            <c:showCatName val="0"/>
            <c:showSerName val="0"/>
            <c:showPercent val="0"/>
            <c:showBubbleSize val="0"/>
            <c:showLeaderLines val="0"/>
          </c:dLbls>
          <c:cat>
            <c:multiLvlStrRef>
              <c:f>Sheet1!$A$2:$A$11</c:f>
              <c:multiLvlStrCache>
                <c:ptCount val="10"/>
                <c:lvl>
                  <c:pt idx="0">
                    <c:v>All</c:v>
                  </c:pt>
                  <c:pt idx="1">
                    <c:v>−Vitals</c:v>
                  </c:pt>
                  <c:pt idx="2">
                    <c:v>−Labs</c:v>
                  </c:pt>
                  <c:pt idx="3">
                    <c:v>−Procs</c:v>
                  </c:pt>
                  <c:pt idx="4">
                    <c:v>−Dx</c:v>
                  </c:pt>
                  <c:pt idx="5">
                    <c:v>−Meds</c:v>
                  </c:pt>
                  <c:pt idx="6">
                    <c:v>−Visits</c:v>
                  </c:pt>
                  <c:pt idx="7">
                    <c:v>−Demo</c:v>
                  </c:pt>
                  <c:pt idx="8">
                    <c:v>−PROMIS</c:v>
                  </c:pt>
                  <c:pt idx="9">
                    <c:v>−Demo&amp;PROMIS</c:v>
                  </c:pt>
                </c:lvl>
              </c:multiLvlStrCache>
            </c:multiLvlStrRef>
          </c:cat>
          <c:val>
            <c:numRef>
              <c:f>Sheet1!$B$2:$B$11</c:f>
              <c:numCache>
                <c:formatCode>General</c:formatCode>
                <c:ptCount val="10"/>
                <c:pt idx="0">
                  <c:v>0.692</c:v>
                </c:pt>
                <c:pt idx="1">
                  <c:v>0.663</c:v>
                </c:pt>
                <c:pt idx="2">
                  <c:v>0.694</c:v>
                </c:pt>
                <c:pt idx="3">
                  <c:v>0.698</c:v>
                </c:pt>
                <c:pt idx="4">
                  <c:v>0.705</c:v>
                </c:pt>
                <c:pt idx="5">
                  <c:v>0.7</c:v>
                </c:pt>
                <c:pt idx="6">
                  <c:v>0.686</c:v>
                </c:pt>
                <c:pt idx="7">
                  <c:v>0.681</c:v>
                </c:pt>
                <c:pt idx="8">
                  <c:v>0.559</c:v>
                </c:pt>
                <c:pt idx="9">
                  <c:v>0.551</c:v>
                </c:pt>
              </c:numCache>
            </c:numRef>
          </c:val>
        </c:ser>
        <c:ser>
          <c:idx val="1"/>
          <c:order val="1"/>
          <c:tx>
            <c:strRef>
              <c:f>Sheet1!$C$1</c:f>
              <c:strCache>
                <c:ptCount val="1"/>
                <c:pt idx="0">
                  <c:v>Threshold</c:v>
                </c:pt>
              </c:strCache>
            </c:strRef>
          </c:tx>
          <c:spPr>
            <a:solidFill>
              <a:srgbClr val="2A7F7F"/>
            </a:solidFill>
            <a:effectLst/>
          </c:spPr>
          <c:invertIfNegative val="0"/>
          <c:dLbls>
            <c:numFmt formatCode="0.00" sourceLinked="0"/>
            <c:txPr>
              <a:bodyPr/>
              <a:lstStyle/>
              <a:p>
                <a:pPr>
                  <a:defRPr b="0" i="0" strike="noStrike" sz="800" u="none">
                    <a:solidFill>
                      <a:srgbClr val="2B2B2B"/>
                    </a:solidFill>
                    <a:latin typeface="+mn-lt"/>
                  </a:defRPr>
                </a:pPr>
              </a:p>
            </c:txPr>
            <c:showLegendKey val="0"/>
            <c:showVal val="1"/>
            <c:showCatName val="0"/>
            <c:showSerName val="0"/>
            <c:showPercent val="0"/>
            <c:showBubbleSize val="0"/>
            <c:showLeaderLines val="0"/>
          </c:dLbls>
          <c:cat>
            <c:multiLvlStrRef>
              <c:f>Sheet1!$A$2:$A$11</c:f>
              <c:multiLvlStrCache>
                <c:ptCount val="10"/>
                <c:lvl>
                  <c:pt idx="0">
                    <c:v>All</c:v>
                  </c:pt>
                  <c:pt idx="1">
                    <c:v>−Vitals</c:v>
                  </c:pt>
                  <c:pt idx="2">
                    <c:v>−Labs</c:v>
                  </c:pt>
                  <c:pt idx="3">
                    <c:v>−Procs</c:v>
                  </c:pt>
                  <c:pt idx="4">
                    <c:v>−Dx</c:v>
                  </c:pt>
                  <c:pt idx="5">
                    <c:v>−Meds</c:v>
                  </c:pt>
                  <c:pt idx="6">
                    <c:v>−Visits</c:v>
                  </c:pt>
                  <c:pt idx="7">
                    <c:v>−Demo</c:v>
                  </c:pt>
                  <c:pt idx="8">
                    <c:v>−PROMIS</c:v>
                  </c:pt>
                  <c:pt idx="9">
                    <c:v>−Demo&amp;PROMIS</c:v>
                  </c:pt>
                </c:lvl>
              </c:multiLvlStrCache>
            </c:multiLvlStrRef>
          </c:cat>
          <c:val>
            <c:numRef>
              <c:f>Sheet1!$C$2:$C$11</c:f>
              <c:numCache>
                <c:formatCode>General</c:formatCode>
                <c:ptCount val="10"/>
                <c:pt idx="0">
                  <c:v>0.868</c:v>
                </c:pt>
                <c:pt idx="1">
                  <c:v>0.866</c:v>
                </c:pt>
                <c:pt idx="2">
                  <c:v>0.865</c:v>
                </c:pt>
                <c:pt idx="3">
                  <c:v>0.865</c:v>
                </c:pt>
                <c:pt idx="4">
                  <c:v>0.862</c:v>
                </c:pt>
                <c:pt idx="5">
                  <c:v>0.869</c:v>
                </c:pt>
                <c:pt idx="6">
                  <c:v>0.871</c:v>
                </c:pt>
                <c:pt idx="7">
                  <c:v>0.854</c:v>
                </c:pt>
                <c:pt idx="8">
                  <c:v>0.768</c:v>
                </c:pt>
                <c:pt idx="9">
                  <c:v>0.749</c:v>
                </c:pt>
              </c:numCache>
            </c:numRef>
          </c:val>
        </c:ser>
        <c:dLbls>
          <c:numFmt formatCode="0.00" sourceLinked="0"/>
          <c:txPr>
            <a:bodyPr/>
            <a:lstStyle/>
            <a:p>
              <a:pPr>
                <a:defRPr b="0" i="0" strike="noStrike" sz="800" u="none">
                  <a:solidFill>
                    <a:srgbClr val="2B2B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b"/>
        <c:majorGridlines>
          <c:spPr>
            <a:ln w="6350" cap="flat">
              <a:solidFill>
                <a:srgbClr val="E6DCCB"/>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900" b="0" i="0" u="none" strike="noStrike">
                <a:solidFill>
                  <a:srgbClr val="6B645C"/>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900">
              <a:solidFill>
                <a:srgbClr val="6B645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2B2B2B"/>
                </a:solidFill>
                <a:latin typeface="+mn-lt"/>
              </a:defRPr>
            </a:pPr>
            <a:r>
              <a:rPr sz="1000" b="0" i="0" u="none" strike="noStrike">
                <a:solidFill>
                  <a:srgbClr val="2B2B2B"/>
                </a:solidFill>
                <a:latin typeface="+mn-lt"/>
              </a:rPr>
              <a:t>Test accuracy (%)</a:t>
            </a:r>
          </a:p>
        </c:rich>
      </c:tx>
      <c:layout/>
      <c:overlay val="0"/>
    </c:title>
    <c:autoTitleDeleted val="0"/>
    <c:plotArea>
      <c:layout/>
      <c:barChart>
        <c:barDir val="col"/>
        <c:grouping val="clustered"/>
        <c:varyColors val="0"/>
        <c:ser>
          <c:idx val="0"/>
          <c:order val="0"/>
          <c:tx>
            <c:strRef>
              <c:f>Sheet1!$B$1</c:f>
              <c:strCache>
                <c:ptCount val="1"/>
                <c:pt idx="0">
                  <c:v>Drop</c:v>
                </c:pt>
              </c:strCache>
            </c:strRef>
          </c:tx>
          <c:spPr>
            <a:solidFill>
              <a:srgbClr val="B85042"/>
            </a:solidFill>
            <a:effectLst/>
          </c:spPr>
          <c:invertIfNegative val="0"/>
          <c:dLbls>
            <c:numFmt formatCode="0.0" sourceLinked="0"/>
            <c:txPr>
              <a:bodyPr/>
              <a:lstStyle/>
              <a:p>
                <a:pPr>
                  <a:defRPr b="0" i="0" strike="noStrike" sz="900" u="none">
                    <a:solidFill>
                      <a:srgbClr val="2B2B2B"/>
                    </a:solidFill>
                    <a:latin typeface="+mn-lt"/>
                  </a:defRPr>
                </a:pPr>
              </a:p>
            </c:txPr>
            <c:showLegendKey val="0"/>
            <c:showVal val="1"/>
            <c:showCatName val="0"/>
            <c:showSerName val="0"/>
            <c:showPercent val="0"/>
            <c:showBubbleSize val="0"/>
            <c:showLeaderLines val="0"/>
          </c:dLbls>
          <c:cat>
            <c:multiLvlStrRef>
              <c:f>Sheet1!$A$2:$A$5</c:f>
              <c:multiLvlStrCache>
                <c:ptCount val="4"/>
                <c:lvl>
                  <c:pt idx="0">
                    <c:v>Always 'no'</c:v>
                  </c:pt>
                  <c:pt idx="1">
                    <c:v>Default cut-off 0.5</c:v>
                  </c:pt>
                  <c:pt idx="2">
                    <c:v>Tuned cut-off</c:v>
                  </c:pt>
                  <c:pt idx="3">
                    <c:v>Ceiling</c:v>
                  </c:pt>
                </c:lvl>
              </c:multiLvlStrCache>
            </c:multiLvlStrRef>
          </c:cat>
          <c:val>
            <c:numRef>
              <c:f>Sheet1!$B$2:$B$5</c:f>
              <c:numCache>
                <c:formatCode>General</c:formatCode>
                <c:ptCount val="4"/>
                <c:pt idx="0">
                  <c:v>81.3</c:v>
                </c:pt>
                <c:pt idx="1">
                  <c:v>81.7</c:v>
                </c:pt>
                <c:pt idx="2">
                  <c:v>82.5</c:v>
                </c:pt>
                <c:pt idx="3">
                  <c:v>83.7</c:v>
                </c:pt>
              </c:numCache>
            </c:numRef>
          </c:val>
        </c:ser>
        <c:ser>
          <c:idx val="1"/>
          <c:order val="1"/>
          <c:tx>
            <c:strRef>
              <c:f>Sheet1!$C$1</c:f>
              <c:strCache>
                <c:ptCount val="1"/>
                <c:pt idx="0">
                  <c:v>Threshold</c:v>
                </c:pt>
              </c:strCache>
            </c:strRef>
          </c:tx>
          <c:spPr>
            <a:solidFill>
              <a:srgbClr val="2A7F7F"/>
            </a:solidFill>
            <a:effectLst/>
          </c:spPr>
          <c:invertIfNegative val="0"/>
          <c:dLbls>
            <c:numFmt formatCode="0.0" sourceLinked="0"/>
            <c:txPr>
              <a:bodyPr/>
              <a:lstStyle/>
              <a:p>
                <a:pPr>
                  <a:defRPr b="0" i="0" strike="noStrike" sz="900" u="none">
                    <a:solidFill>
                      <a:srgbClr val="2B2B2B"/>
                    </a:solidFill>
                    <a:latin typeface="+mn-lt"/>
                  </a:defRPr>
                </a:pPr>
              </a:p>
            </c:txPr>
            <c:showLegendKey val="0"/>
            <c:showVal val="1"/>
            <c:showCatName val="0"/>
            <c:showSerName val="0"/>
            <c:showPercent val="0"/>
            <c:showBubbleSize val="0"/>
            <c:showLeaderLines val="0"/>
          </c:dLbls>
          <c:cat>
            <c:multiLvlStrRef>
              <c:f>Sheet1!$A$2:$A$5</c:f>
              <c:multiLvlStrCache>
                <c:ptCount val="4"/>
                <c:lvl>
                  <c:pt idx="0">
                    <c:v>Always 'no'</c:v>
                  </c:pt>
                  <c:pt idx="1">
                    <c:v>Default cut-off 0.5</c:v>
                  </c:pt>
                  <c:pt idx="2">
                    <c:v>Tuned cut-off</c:v>
                  </c:pt>
                  <c:pt idx="3">
                    <c:v>Ceiling</c:v>
                  </c:pt>
                </c:lvl>
              </c:multiLvlStrCache>
            </c:multiLvlStrRef>
          </c:cat>
          <c:val>
            <c:numRef>
              <c:f>Sheet1!$C$2:$C$5</c:f>
              <c:numCache>
                <c:formatCode>General</c:formatCode>
                <c:ptCount val="4"/>
                <c:pt idx="0">
                  <c:v>77.3</c:v>
                </c:pt>
                <c:pt idx="1">
                  <c:v>82.5</c:v>
                </c:pt>
                <c:pt idx="2">
                  <c:v>84.1</c:v>
                </c:pt>
                <c:pt idx="3">
                  <c:v>83.3</c:v>
                </c:pt>
              </c:numCache>
            </c:numRef>
          </c:val>
        </c:ser>
        <c:dLbls>
          <c:numFmt formatCode="0.0" sourceLinked="0"/>
          <c:txPr>
            <a:bodyPr/>
            <a:lstStyle/>
            <a:p>
              <a:pPr>
                <a:defRPr b="0" i="0" strike="noStrike" sz="900" u="none">
                  <a:solidFill>
                    <a:srgbClr val="2B2B2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45C"/>
                </a:solidFill>
                <a:latin typeface="+mn-lt"/>
              </a:defRPr>
            </a:pPr>
            <a:endParaRPr lang="en-US"/>
          </a:p>
        </c:txPr>
        <c:crossAx val="2094734552"/>
        <c:crosses val="autoZero"/>
        <c:auto val="1"/>
        <c:lblAlgn val="ctr"/>
        <c:noMultiLvlLbl val="1"/>
      </c:catAx>
      <c:valAx>
        <c:axId val="2094734552"/>
        <c:scaling>
          <c:orientation val="minMax"/>
          <c:max val="90"/>
          <c:min val="70"/>
        </c:scaling>
        <c:delete val="0"/>
        <c:axPos val="l"/>
        <c:majorGridlines>
          <c:spPr>
            <a:ln w="6350" cap="flat">
              <a:solidFill>
                <a:srgbClr val="E6DC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45C"/>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900">
              <a:solidFill>
                <a:srgbClr val="6B645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Sampreeth and Sharvesh, team E-17. Our project predicts, at the moment a cancer patient starts chemotherapy, whether their self-reported physical health will decline during treatment. It is a replication of a Stanford CS229 project by Ostberg and Peterson (2020). The original used Stanford's private patient records, so we rebuilt the full pipeline on simulated records with the same structure, made the evaluation stricter, and extended it. About 7 minutes of talk, then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Chemotherapy often makes patients feel physically worse, and some decline much more than others. Patients report this themselves on the PROMIS Global Physical Health questionnaire, a T-score with mean 50 and SD 10. If we can flag high-risk patients before the first dose, clinicians can plan supportive care early. The model uses only what is known at that moment: the baseline PROMIS score, labs, vitals, diagnoses, medications, procedures, hospital visits and demographics. It outputs a risk for two labels, Drop and Threshold, defined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is 'Predicting a Decline in Patient Reported Outcomes for Cancer Patients on Chemotherapy' by Ostberg and Peterson, Stanford CS229, 2020. It used 1,252 patients from Stanford's STARR database, defined the two labels, compared eight model families and found a soft-voting ensemble best, with AUROC 0.771 for Drop and 0.752 for Threshold. We did not invent the method. We re-implemented it end to end, and because STARR is private we wrote a simulator that produces raw patient records with the same structure. We also made the protocol stricter: the paper early-stopped two models on the test set and applied a filter to the whole cohort; we fit everything inside each training fold. We added 22 automated tests, an accuracy study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real data is private, our simulator creates raw patient tables: patients, visits, vitals, labs, diagnoses, procedures, medications and surveys. A hidden frailty variable drives both the records and the change in physical health, plus cancer type, regression to the mean and random noise. The chart shows the paper's inclusion criteria applied to 1715 simulated patients: cancer diagnosed from 2013, a baseline survey within 90 days before the first dose, and an on-treatment survey 30 to 180 days after. That leaves 1254 patients, close to the paper's 1,252. Drop prevalence is 18.5%, Threshold 22.6%. We split 80/20 stratified on both labels. Be clear: the AUROC values describe our simulator, not real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simulator writes raw tables; cohort.py applies the inclusion rules and creates the two labels. build.py turns events into one row per patient using only data from before the first dose. preprocess.py holds everything that is fitted: the prevalence filter, imputation, binning and scaling, all inside the model pipeline so they are re-fitted on every training fold. registry.py defines the eight model families and their grids; training.py runs the grid search and builds the ensemble. Then we evaluate once on the test set, run the ablation and draw figures. demo.py runs the whole demo in one command. Training is checkpointed, so an interrupted run resumes.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852 raw features in four families. P: the baseline PROMIS scores and demographics; cancer type and other categories are one-hot encoded inside the pipeline. L: 49 lab tests and 7 vital signs summarised as a time-weighted mean, with weight exp(-t/365) as in the paper, so recent values count more; physiologically impossible vitals such as a heart rate of 0 are removed first. C: diagnoses over the full history, medications and procedures in the last 180 days. U: counts of hospital visits by type. Codes present in under 2.5% of patients are dropped, and labs are handled two ways, KNN imputation or tertile bins with a missing flag, as in the paper. Key point in the callout: every fitted step is learned on training folds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model families, as in the paper, all predicting a yes/no label. The three penalised logistic regressions differ only in their penalty: LASSO can drop features entirely, Ridge shrinks all of them, Elastic Net mixes both. Random Forest averages 500 trees; LightGBM builds trees one after another, each fixing earlier errors. The MLP has three hidden layers but far more weights than we have patients. The SVM finds a maximum-margin boundary and needs Platt scaling to output probabilities. KNN votes among similar patients and suffers in high dimensions. The ensemble averages the predicted probabilities of LASSO, Ridge, Elastic Net, Random Forest, LightGBM and SVM, the same members the paper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AUROC is our main metric, as in the paper: it measures how well the model ranks patients by risk, independent of any cut-off. 0.5 is chance, 1 is perfect. Accuracy is easy to understand but misleading here: only about 19% of patients have a Drop, so a model that always says no already gets about 81%. Recall is the share of real decliners we catch. Four experiments: compare all models on both labels with both lab strategies; refit the ensemble with each feature group removed; study accuracy and tune the decision cut-off on training data; and the live demo. The test set is used exactly once, and confidence intervals come from bootstrapping.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test AUROC from results/metrics.csv. We select models by cross-validation, not by test score, and by CV the ensemble is best in all four settings. On the test set the ensemble reaches 0.692 for Drop and 0.868 for Threshold with KNN-imputed labs. For Drop, LASSO with binned labs (0.73) and Elastic Net edge it, but with only 47 positive test patients the CI is about plus or minus 0.09, so these gaps are noise. As in the paper, the MLP and KNN are weakest. The paper reported 0.771 and 0.752 on real data; our numbers describe the simulator, so compare patterns, not absolute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refit the tuned ensemble with one feature group removed at a time and score it on the test set. Removing the baseline PROMIS scores drops Drop AUROC from 0.692 to 0.559, and removing demographics and PROMIS together gives 0.551. The paper saw 0.770 falling to 0.599, the same pattern. For Threshold: 0.868 to 0.749. Removing any other single group changes AUROC by less than the confidence interval, because frailty shows up redundantly across labs, diagnoses and medications. Is using the baseline score leakage? No: it is collected before the first dose. Bottom: the largest LASSO coefficients. A high baseline predicts a Drop because there is more room to fall; for Threshold the sign flips. Importance shows what the model uses, not what causes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extension beyond the paper. With about 20% positives, the default 0.5 cut-off almost never predicts yes, so accuracy at 0.5 barely beats always saying no. We choose the cut-off that maximises accuracy on out-of-fold training predictions, never the test set, and apply it once. Drop accuracy rises from 81.7 to 82.5%, Threshold from 82.5 to 84.1%, and Threshold recall from 25 to 44%. We also tried extra 'burden' features such as counts of diagnoses and visits: they improved AUROC slightly but not accuracy, and we report that honestly. The ceiling bar is the accuracy of a model that knows each simulated patient's hidden frailty: about 84%. We are at that ceiling, so the remaining errors are noise. Small differences between laptops (1 to 3 patients) come from LightGBM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groups of improvements over the paper's setup. Leakage-safe pipeline: every fitted step lives inside the model pipeline, we removed the paper's early stopping on the test set, features use only events before the first dose, and a test proves it: it deletes every post-chemo event, checks the features are identical, and fails if we break the date filter. More reliable evaluation: stratified 10-fold CV, bootstrap confidence intervals, a single use of the test set, and 22 automated tests. Broader experimentation: both lab strategies, ablation, the accuracy study with a tuned cut-off and a ceiling, and a one-command demo. Again, these are engineering and evaluation improvements, not new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python demo.py --pause, which stops after each section. It runs the 22 tests, prints the AUROC of every model, the accuracy before and after tuning the cut-off, a full classification report with the confusion matrix, then classifies individual test patients and shows the predicted probability, the predicted class and what actually happened. Finally it shows the accuracy ceiling. It uses saved models, so it takes about 40 seconds instead of 13 minutes of training. The table on the right is real output; rows in red are mistakes, for example the first patient was predicted not to decline but did. If asked for setup: create the conda environment, pip install -r requirements.txt, pip install -e ., then python -m prodecline all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ensemble is the most robust model by cross-validation, and the baseline patient-reported score carries most of the signal, matching the paper. The model is useful for prioritising: the fifth of patients it rates highest-risk declined 42% of the time, against about 10% for the lowest. With a cut-off tuned on training data, accuracy is 82.5% and 84.1%, at the ceiling for this data. Limitations: the data is simulated, there is a single train/test split, and the ensemble's CV score is slightly optimistic because its members were tuned on the same folds. Future work: validate on real records such as MIMIC-IV, use nested cross-validation, and check calibration.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1E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rtlCol="0"/>
          <a:lstStyle>
            <a:lvl1pPr algn="l" indent="0" marL="0">
              <a:buNone/>
              <a:defRPr lang="en-US" sz="2800" b="1" dirty="0">
                <a:solidFill>
                  <a:srgbClr val="2B2B2B"/>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623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7315200" cy="274320"/>
          </a:xfrm>
          <a:prstGeom prst="rect">
            <a:avLst/>
          </a:prstGeom>
          <a:noFill/>
          <a:ln/>
        </p:spPr>
        <p:txBody>
          <a:bodyPr wrap="square" lIns="0" tIns="0" rIns="0" bIns="0" rtlCol="0" anchor="ctr"/>
          <a:lstStyle/>
          <a:p>
            <a:pPr indent="0" marL="0">
              <a:buNone/>
            </a:pPr>
            <a:r>
              <a:rPr lang="en-US" sz="1200" b="1" spc="200" kern="0" dirty="0">
                <a:solidFill>
                  <a:srgbClr val="E4B8A8"/>
                </a:solidFill>
                <a:latin typeface="Calibri" pitchFamily="34" charset="0"/>
                <a:ea typeface="Calibri" pitchFamily="34" charset="-122"/>
                <a:cs typeface="Calibri" pitchFamily="34" charset="-120"/>
              </a:rPr>
              <a:t>UE24CS352A  ·  MACHINE LEARNING MINI-PROJECT</a:t>
            </a:r>
            <a:endParaRPr lang="en-US" sz="1200" dirty="0"/>
          </a:p>
        </p:txBody>
      </p:sp>
      <p:sp>
        <p:nvSpPr>
          <p:cNvPr id="3" name="Text 1"/>
          <p:cNvSpPr txBox="1"/>
          <p:nvPr/>
        </p:nvSpPr>
        <p:spPr>
          <a:xfrm>
            <a:off x="548640" y="822960"/>
            <a:ext cx="5669280" cy="1645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Predicting a Decline in Patient-Reported Outcomes for Cancer Patients on Chemotherapy</a:t>
            </a:r>
            <a:endParaRPr lang="en-US" sz="2800" dirty="0"/>
          </a:p>
        </p:txBody>
      </p:sp>
      <p:sp>
        <p:nvSpPr>
          <p:cNvPr id="4" name="Text 2"/>
          <p:cNvSpPr txBox="1"/>
          <p:nvPr/>
        </p:nvSpPr>
        <p:spPr>
          <a:xfrm>
            <a:off x="548640" y="2514600"/>
            <a:ext cx="5303520" cy="640080"/>
          </a:xfrm>
          <a:prstGeom prst="rect">
            <a:avLst/>
          </a:prstGeom>
          <a:noFill/>
          <a:ln/>
        </p:spPr>
        <p:txBody>
          <a:bodyPr wrap="square" lIns="0" tIns="0" rIns="0" bIns="0" rtlCol="0" anchor="t"/>
          <a:lstStyle/>
          <a:p>
            <a:pPr indent="0" marL="0">
              <a:buNone/>
            </a:pPr>
            <a:r>
              <a:rPr lang="en-US" sz="1600" dirty="0">
                <a:solidFill>
                  <a:srgbClr val="E9DFD0"/>
                </a:solidFill>
                <a:latin typeface="Calibri" pitchFamily="34" charset="0"/>
                <a:ea typeface="Calibri" pitchFamily="34" charset="-122"/>
                <a:cs typeface="Calibri" pitchFamily="34" charset="-120"/>
              </a:rPr>
              <a:t>Leakage-safe replication with eight tuned classifiers, a soft-voting ensemble and ablation</a:t>
            </a:r>
            <a:endParaRPr lang="en-US" sz="1600" dirty="0"/>
          </a:p>
        </p:txBody>
      </p:sp>
      <p:sp>
        <p:nvSpPr>
          <p:cNvPr id="5" name="Text 3"/>
          <p:cNvSpPr txBox="1"/>
          <p:nvPr/>
        </p:nvSpPr>
        <p:spPr>
          <a:xfrm>
            <a:off x="548640" y="329184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Sampreeth Jaladi  ·  Sharvesh K</a:t>
            </a:r>
            <a:endParaRPr lang="en-US" sz="1600" dirty="0"/>
          </a:p>
        </p:txBody>
      </p:sp>
      <p:sp>
        <p:nvSpPr>
          <p:cNvPr id="6" name="Text 4"/>
          <p:cNvSpPr txBox="1"/>
          <p:nvPr/>
        </p:nvSpPr>
        <p:spPr>
          <a:xfrm>
            <a:off x="548640" y="3611880"/>
            <a:ext cx="5943600" cy="274320"/>
          </a:xfrm>
          <a:prstGeom prst="rect">
            <a:avLst/>
          </a:prstGeom>
          <a:noFill/>
          <a:ln/>
        </p:spPr>
        <p:txBody>
          <a:bodyPr wrap="square" lIns="0" tIns="0" rIns="0" bIns="0" rtlCol="0" anchor="ctr"/>
          <a:lstStyle/>
          <a:p>
            <a:pPr indent="0" marL="0">
              <a:buNone/>
            </a:pPr>
            <a:r>
              <a:rPr lang="en-US" sz="1200" dirty="0">
                <a:solidFill>
                  <a:srgbClr val="BDB3A5"/>
                </a:solidFill>
                <a:latin typeface="Calibri" pitchFamily="34" charset="0"/>
                <a:ea typeface="Calibri" pitchFamily="34" charset="-122"/>
                <a:cs typeface="Calibri" pitchFamily="34" charset="-120"/>
              </a:rPr>
              <a:t>Team E-17  ·  Replication of Ostberg &amp; Peterson (2020), Stanford CS229</a:t>
            </a:r>
            <a:endParaRPr lang="en-US" sz="1200" dirty="0"/>
          </a:p>
        </p:txBody>
      </p:sp>
      <p:sp>
        <p:nvSpPr>
          <p:cNvPr id="7" name="Shape 5"/>
          <p:cNvSpPr/>
          <p:nvPr/>
        </p:nvSpPr>
        <p:spPr>
          <a:xfrm>
            <a:off x="6537960" y="777240"/>
            <a:ext cx="2011680" cy="1234440"/>
          </a:xfrm>
          <a:prstGeom prst="roundRect">
            <a:avLst>
              <a:gd name="adj" fmla="val 5926"/>
            </a:avLst>
          </a:prstGeom>
          <a:solidFill>
            <a:srgbClr val="F7F1E7"/>
          </a:solidFill>
          <a:ln w="12700">
            <a:solidFill>
              <a:srgbClr val="E4B8A8"/>
            </a:solidFill>
            <a:prstDash val="solid"/>
          </a:ln>
        </p:spPr>
      </p:sp>
      <p:sp>
        <p:nvSpPr>
          <p:cNvPr id="8" name="Text 6"/>
          <p:cNvSpPr txBox="1"/>
          <p:nvPr/>
        </p:nvSpPr>
        <p:spPr>
          <a:xfrm>
            <a:off x="6537960" y="868680"/>
            <a:ext cx="2011680" cy="594360"/>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PROMIS</a:t>
            </a:r>
            <a:endParaRPr lang="en-US" sz="3000" dirty="0"/>
          </a:p>
        </p:txBody>
      </p:sp>
      <p:sp>
        <p:nvSpPr>
          <p:cNvPr id="9" name="Text 7"/>
          <p:cNvSpPr txBox="1"/>
          <p:nvPr/>
        </p:nvSpPr>
        <p:spPr>
          <a:xfrm>
            <a:off x="6537960" y="1463040"/>
            <a:ext cx="2011680" cy="411480"/>
          </a:xfrm>
          <a:prstGeom prst="rect">
            <a:avLst/>
          </a:prstGeom>
          <a:noFill/>
          <a:ln/>
        </p:spPr>
        <p:txBody>
          <a:bodyPr wrap="square" lIns="0" tIns="0" rIns="0" bIns="0" rtlCol="0" anchor="ctr"/>
          <a:lstStyle/>
          <a:p>
            <a:pPr algn="ctr" indent="0" marL="0">
              <a:buNone/>
            </a:pPr>
            <a:r>
              <a:rPr lang="en-US" sz="1300" dirty="0">
                <a:solidFill>
                  <a:srgbClr val="6B645C"/>
                </a:solidFill>
                <a:latin typeface="Calibri" pitchFamily="34" charset="0"/>
                <a:ea typeface="Calibri" pitchFamily="34" charset="-122"/>
                <a:cs typeface="Calibri" pitchFamily="34" charset="-120"/>
              </a:rPr>
              <a:t>physical health score</a:t>
            </a:r>
            <a:endParaRPr lang="en-US" sz="1300" dirty="0"/>
          </a:p>
        </p:txBody>
      </p:sp>
      <p:sp>
        <p:nvSpPr>
          <p:cNvPr id="10" name="Text 8"/>
          <p:cNvSpPr txBox="1"/>
          <p:nvPr/>
        </p:nvSpPr>
        <p:spPr>
          <a:xfrm>
            <a:off x="6537960" y="2103120"/>
            <a:ext cx="2011680" cy="274320"/>
          </a:xfrm>
          <a:prstGeom prst="rect">
            <a:avLst/>
          </a:prstGeom>
          <a:noFill/>
          <a:ln/>
        </p:spPr>
        <p:txBody>
          <a:bodyPr wrap="square" lIns="0" tIns="0" rIns="0" bIns="0" rtlCol="0" anchor="ctr"/>
          <a:lstStyle/>
          <a:p>
            <a:pPr algn="ctr" indent="0" marL="0">
              <a:buNone/>
            </a:pPr>
            <a:r>
              <a:rPr lang="en-US" sz="1200" dirty="0">
                <a:solidFill>
                  <a:srgbClr val="E9DFD0"/>
                </a:solidFill>
                <a:latin typeface="Calibri" pitchFamily="34" charset="0"/>
                <a:ea typeface="Calibri" pitchFamily="34" charset="-122"/>
                <a:cs typeface="Calibri" pitchFamily="34" charset="-120"/>
              </a:rPr>
              <a:t>Drop  ·  Threshold</a:t>
            </a:r>
            <a:endParaRPr lang="en-US" sz="1200" dirty="0"/>
          </a:p>
        </p:txBody>
      </p:sp>
      <p:sp>
        <p:nvSpPr>
          <p:cNvPr id="11" name="Shape 9"/>
          <p:cNvSpPr/>
          <p:nvPr/>
        </p:nvSpPr>
        <p:spPr>
          <a:xfrm>
            <a:off x="274320" y="4498848"/>
            <a:ext cx="411480" cy="644652"/>
          </a:xfrm>
          <a:prstGeom prst="rect">
            <a:avLst/>
          </a:prstGeom>
          <a:solidFill>
            <a:srgbClr val="3C3730"/>
          </a:solidFill>
          <a:ln w="12700">
            <a:solidFill>
              <a:srgbClr val="3C3730"/>
            </a:solidFill>
            <a:prstDash val="solid"/>
          </a:ln>
        </p:spPr>
      </p:sp>
      <p:sp>
        <p:nvSpPr>
          <p:cNvPr id="12" name="Shape 10"/>
          <p:cNvSpPr/>
          <p:nvPr/>
        </p:nvSpPr>
        <p:spPr>
          <a:xfrm>
            <a:off x="822960" y="4142232"/>
            <a:ext cx="411480" cy="1001268"/>
          </a:xfrm>
          <a:prstGeom prst="rect">
            <a:avLst/>
          </a:prstGeom>
          <a:solidFill>
            <a:srgbClr val="4A443B"/>
          </a:solidFill>
          <a:ln w="12700">
            <a:solidFill>
              <a:srgbClr val="4A443B"/>
            </a:solidFill>
            <a:prstDash val="solid"/>
          </a:ln>
        </p:spPr>
      </p:sp>
      <p:sp>
        <p:nvSpPr>
          <p:cNvPr id="13" name="Shape 11"/>
          <p:cNvSpPr/>
          <p:nvPr/>
        </p:nvSpPr>
        <p:spPr>
          <a:xfrm>
            <a:off x="1371600" y="4599432"/>
            <a:ext cx="411480" cy="544068"/>
          </a:xfrm>
          <a:prstGeom prst="rect">
            <a:avLst/>
          </a:prstGeom>
          <a:solidFill>
            <a:srgbClr val="3C3730"/>
          </a:solidFill>
          <a:ln w="12700">
            <a:solidFill>
              <a:srgbClr val="3C3730"/>
            </a:solidFill>
            <a:prstDash val="solid"/>
          </a:ln>
        </p:spPr>
      </p:sp>
      <p:sp>
        <p:nvSpPr>
          <p:cNvPr id="14" name="Shape 12"/>
          <p:cNvSpPr/>
          <p:nvPr/>
        </p:nvSpPr>
        <p:spPr>
          <a:xfrm>
            <a:off x="1828800" y="4315968"/>
            <a:ext cx="411480" cy="827532"/>
          </a:xfrm>
          <a:prstGeom prst="rect">
            <a:avLst/>
          </a:prstGeom>
          <a:solidFill>
            <a:srgbClr val="4A443B"/>
          </a:solidFill>
          <a:ln w="12700">
            <a:solidFill>
              <a:srgbClr val="4A443B"/>
            </a:solidFill>
            <a:prstDash val="solid"/>
          </a:ln>
        </p:spPr>
      </p:sp>
      <p:sp>
        <p:nvSpPr>
          <p:cNvPr id="15" name="Shape 13"/>
          <p:cNvSpPr/>
          <p:nvPr/>
        </p:nvSpPr>
        <p:spPr>
          <a:xfrm>
            <a:off x="6309360" y="4041648"/>
            <a:ext cx="411480" cy="1101852"/>
          </a:xfrm>
          <a:prstGeom prst="rect">
            <a:avLst/>
          </a:prstGeom>
          <a:solidFill>
            <a:srgbClr val="3C3730"/>
          </a:solidFill>
          <a:ln w="12700">
            <a:solidFill>
              <a:srgbClr val="3C3730"/>
            </a:solidFill>
            <a:prstDash val="solid"/>
          </a:ln>
        </p:spPr>
      </p:sp>
      <p:sp>
        <p:nvSpPr>
          <p:cNvPr id="16" name="Shape 14"/>
          <p:cNvSpPr/>
          <p:nvPr/>
        </p:nvSpPr>
        <p:spPr>
          <a:xfrm>
            <a:off x="6766560" y="3410712"/>
            <a:ext cx="411480" cy="1732788"/>
          </a:xfrm>
          <a:prstGeom prst="rect">
            <a:avLst/>
          </a:prstGeom>
          <a:solidFill>
            <a:srgbClr val="B85042"/>
          </a:solidFill>
          <a:ln w="12700">
            <a:solidFill>
              <a:srgbClr val="B85042"/>
            </a:solidFill>
            <a:prstDash val="solid"/>
          </a:ln>
        </p:spPr>
      </p:sp>
      <p:sp>
        <p:nvSpPr>
          <p:cNvPr id="17" name="Shape 15"/>
          <p:cNvSpPr/>
          <p:nvPr/>
        </p:nvSpPr>
        <p:spPr>
          <a:xfrm>
            <a:off x="7223760" y="3858768"/>
            <a:ext cx="411480" cy="1284732"/>
          </a:xfrm>
          <a:prstGeom prst="rect">
            <a:avLst/>
          </a:prstGeom>
          <a:solidFill>
            <a:srgbClr val="4A443B"/>
          </a:solidFill>
          <a:ln w="12700">
            <a:solidFill>
              <a:srgbClr val="4A443B"/>
            </a:solidFill>
            <a:prstDash val="solid"/>
          </a:ln>
        </p:spPr>
      </p:sp>
      <p:sp>
        <p:nvSpPr>
          <p:cNvPr id="18" name="Shape 16"/>
          <p:cNvSpPr/>
          <p:nvPr/>
        </p:nvSpPr>
        <p:spPr>
          <a:xfrm>
            <a:off x="7680960" y="3044952"/>
            <a:ext cx="411480" cy="2098548"/>
          </a:xfrm>
          <a:prstGeom prst="rect">
            <a:avLst/>
          </a:prstGeom>
          <a:solidFill>
            <a:srgbClr val="2A7F7F"/>
          </a:solidFill>
          <a:ln w="12700">
            <a:solidFill>
              <a:srgbClr val="2A7F7F"/>
            </a:solidFill>
            <a:prstDash val="solid"/>
          </a:ln>
        </p:spPr>
      </p:sp>
      <p:sp>
        <p:nvSpPr>
          <p:cNvPr id="19" name="Shape 17"/>
          <p:cNvSpPr/>
          <p:nvPr/>
        </p:nvSpPr>
        <p:spPr>
          <a:xfrm>
            <a:off x="8138160" y="4142232"/>
            <a:ext cx="411480" cy="1001268"/>
          </a:xfrm>
          <a:prstGeom prst="rect">
            <a:avLst/>
          </a:prstGeom>
          <a:solidFill>
            <a:srgbClr val="4A443B"/>
          </a:solidFill>
          <a:ln w="12700">
            <a:solidFill>
              <a:srgbClr val="4A443B"/>
            </a:solidFill>
            <a:prstDash val="solid"/>
          </a:ln>
        </p:spPr>
      </p:sp>
      <p:sp>
        <p:nvSpPr>
          <p:cNvPr id="21"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Problem Statement and Motivation</a:t>
            </a:r>
            <a:endParaRPr lang="en-US" sz="2800" dirty="0"/>
          </a:p>
        </p:txBody>
      </p:sp>
      <p:sp>
        <p:nvSpPr>
          <p:cNvPr id="3" name="Shape 1"/>
          <p:cNvSpPr/>
          <p:nvPr/>
        </p:nvSpPr>
        <p:spPr>
          <a:xfrm>
            <a:off x="457200" y="1005840"/>
            <a:ext cx="2377440" cy="292608"/>
          </a:xfrm>
          <a:prstGeom prst="rect">
            <a:avLst/>
          </a:prstGeom>
          <a:solidFill>
            <a:srgbClr val="F1DDD3"/>
          </a:solidFill>
          <a:ln w="9525">
            <a:solidFill>
              <a:srgbClr val="E6DCCB"/>
            </a:solidFill>
            <a:prstDash val="solid"/>
          </a:ln>
        </p:spPr>
      </p:sp>
      <p:sp>
        <p:nvSpPr>
          <p:cNvPr id="4" name="Text 2"/>
          <p:cNvSpPr txBox="1"/>
          <p:nvPr/>
        </p:nvSpPr>
        <p:spPr>
          <a:xfrm>
            <a:off x="566928" y="1005840"/>
            <a:ext cx="219456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Baseline PROMIS score</a:t>
            </a:r>
            <a:endParaRPr lang="en-US" sz="1300" dirty="0"/>
          </a:p>
        </p:txBody>
      </p:sp>
      <p:sp>
        <p:nvSpPr>
          <p:cNvPr id="5" name="Shape 3"/>
          <p:cNvSpPr/>
          <p:nvPr/>
        </p:nvSpPr>
        <p:spPr>
          <a:xfrm>
            <a:off x="457200" y="1371600"/>
            <a:ext cx="2377440" cy="292608"/>
          </a:xfrm>
          <a:prstGeom prst="rect">
            <a:avLst/>
          </a:prstGeom>
          <a:solidFill>
            <a:srgbClr val="D6E9E7"/>
          </a:solidFill>
          <a:ln w="9525">
            <a:solidFill>
              <a:srgbClr val="E6DCCB"/>
            </a:solidFill>
            <a:prstDash val="solid"/>
          </a:ln>
        </p:spPr>
      </p:sp>
      <p:sp>
        <p:nvSpPr>
          <p:cNvPr id="6" name="Text 4"/>
          <p:cNvSpPr txBox="1"/>
          <p:nvPr/>
        </p:nvSpPr>
        <p:spPr>
          <a:xfrm>
            <a:off x="566928" y="1371600"/>
            <a:ext cx="219456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Lab results</a:t>
            </a:r>
            <a:endParaRPr lang="en-US" sz="1300" dirty="0"/>
          </a:p>
        </p:txBody>
      </p:sp>
      <p:sp>
        <p:nvSpPr>
          <p:cNvPr id="7" name="Shape 5"/>
          <p:cNvSpPr/>
          <p:nvPr/>
        </p:nvSpPr>
        <p:spPr>
          <a:xfrm>
            <a:off x="457200" y="1737360"/>
            <a:ext cx="2377440" cy="292608"/>
          </a:xfrm>
          <a:prstGeom prst="rect">
            <a:avLst/>
          </a:prstGeom>
          <a:solidFill>
            <a:srgbClr val="F1DDD3"/>
          </a:solidFill>
          <a:ln w="9525">
            <a:solidFill>
              <a:srgbClr val="E6DCCB"/>
            </a:solidFill>
            <a:prstDash val="solid"/>
          </a:ln>
        </p:spPr>
      </p:sp>
      <p:sp>
        <p:nvSpPr>
          <p:cNvPr id="8" name="Text 6"/>
          <p:cNvSpPr txBox="1"/>
          <p:nvPr/>
        </p:nvSpPr>
        <p:spPr>
          <a:xfrm>
            <a:off x="566928" y="1737360"/>
            <a:ext cx="219456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Vital signs</a:t>
            </a:r>
            <a:endParaRPr lang="en-US" sz="1300" dirty="0"/>
          </a:p>
        </p:txBody>
      </p:sp>
      <p:sp>
        <p:nvSpPr>
          <p:cNvPr id="9" name="Shape 7"/>
          <p:cNvSpPr/>
          <p:nvPr/>
        </p:nvSpPr>
        <p:spPr>
          <a:xfrm>
            <a:off x="457200" y="2103120"/>
            <a:ext cx="2377440" cy="292608"/>
          </a:xfrm>
          <a:prstGeom prst="rect">
            <a:avLst/>
          </a:prstGeom>
          <a:solidFill>
            <a:srgbClr val="D6E9E7"/>
          </a:solidFill>
          <a:ln w="9525">
            <a:solidFill>
              <a:srgbClr val="E6DCCB"/>
            </a:solidFill>
            <a:prstDash val="solid"/>
          </a:ln>
        </p:spPr>
      </p:sp>
      <p:sp>
        <p:nvSpPr>
          <p:cNvPr id="10" name="Text 8"/>
          <p:cNvSpPr txBox="1"/>
          <p:nvPr/>
        </p:nvSpPr>
        <p:spPr>
          <a:xfrm>
            <a:off x="566928" y="2103120"/>
            <a:ext cx="219456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Diagnoses</a:t>
            </a:r>
            <a:endParaRPr lang="en-US" sz="1300" dirty="0"/>
          </a:p>
        </p:txBody>
      </p:sp>
      <p:sp>
        <p:nvSpPr>
          <p:cNvPr id="11" name="Shape 9"/>
          <p:cNvSpPr/>
          <p:nvPr/>
        </p:nvSpPr>
        <p:spPr>
          <a:xfrm>
            <a:off x="457200" y="2468880"/>
            <a:ext cx="2377440" cy="292608"/>
          </a:xfrm>
          <a:prstGeom prst="rect">
            <a:avLst/>
          </a:prstGeom>
          <a:solidFill>
            <a:srgbClr val="F1DDD3"/>
          </a:solidFill>
          <a:ln w="9525">
            <a:solidFill>
              <a:srgbClr val="E6DCCB"/>
            </a:solidFill>
            <a:prstDash val="solid"/>
          </a:ln>
        </p:spPr>
      </p:sp>
      <p:sp>
        <p:nvSpPr>
          <p:cNvPr id="12" name="Text 10"/>
          <p:cNvSpPr txBox="1"/>
          <p:nvPr/>
        </p:nvSpPr>
        <p:spPr>
          <a:xfrm>
            <a:off x="566928" y="2468880"/>
            <a:ext cx="219456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Medications</a:t>
            </a:r>
            <a:endParaRPr lang="en-US" sz="1300" dirty="0"/>
          </a:p>
        </p:txBody>
      </p:sp>
      <p:sp>
        <p:nvSpPr>
          <p:cNvPr id="13" name="Shape 11"/>
          <p:cNvSpPr/>
          <p:nvPr/>
        </p:nvSpPr>
        <p:spPr>
          <a:xfrm>
            <a:off x="457200" y="2834640"/>
            <a:ext cx="2377440" cy="292608"/>
          </a:xfrm>
          <a:prstGeom prst="rect">
            <a:avLst/>
          </a:prstGeom>
          <a:solidFill>
            <a:srgbClr val="D6E9E7"/>
          </a:solidFill>
          <a:ln w="9525">
            <a:solidFill>
              <a:srgbClr val="E6DCCB"/>
            </a:solidFill>
            <a:prstDash val="solid"/>
          </a:ln>
        </p:spPr>
      </p:sp>
      <p:sp>
        <p:nvSpPr>
          <p:cNvPr id="14" name="Text 12"/>
          <p:cNvSpPr txBox="1"/>
          <p:nvPr/>
        </p:nvSpPr>
        <p:spPr>
          <a:xfrm>
            <a:off x="566928" y="2834640"/>
            <a:ext cx="219456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Procedures</a:t>
            </a:r>
            <a:endParaRPr lang="en-US" sz="1300" dirty="0"/>
          </a:p>
        </p:txBody>
      </p:sp>
      <p:sp>
        <p:nvSpPr>
          <p:cNvPr id="15" name="Shape 13"/>
          <p:cNvSpPr/>
          <p:nvPr/>
        </p:nvSpPr>
        <p:spPr>
          <a:xfrm>
            <a:off x="457200" y="3200400"/>
            <a:ext cx="2377440" cy="292608"/>
          </a:xfrm>
          <a:prstGeom prst="rect">
            <a:avLst/>
          </a:prstGeom>
          <a:solidFill>
            <a:srgbClr val="F1DDD3"/>
          </a:solidFill>
          <a:ln w="9525">
            <a:solidFill>
              <a:srgbClr val="E6DCCB"/>
            </a:solidFill>
            <a:prstDash val="solid"/>
          </a:ln>
        </p:spPr>
      </p:sp>
      <p:sp>
        <p:nvSpPr>
          <p:cNvPr id="16" name="Text 14"/>
          <p:cNvSpPr txBox="1"/>
          <p:nvPr/>
        </p:nvSpPr>
        <p:spPr>
          <a:xfrm>
            <a:off x="566928" y="3200400"/>
            <a:ext cx="219456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Hospital visits</a:t>
            </a:r>
            <a:endParaRPr lang="en-US" sz="1300" dirty="0"/>
          </a:p>
        </p:txBody>
      </p:sp>
      <p:sp>
        <p:nvSpPr>
          <p:cNvPr id="17" name="Shape 15"/>
          <p:cNvSpPr/>
          <p:nvPr/>
        </p:nvSpPr>
        <p:spPr>
          <a:xfrm>
            <a:off x="457200" y="3566160"/>
            <a:ext cx="2377440" cy="292608"/>
          </a:xfrm>
          <a:prstGeom prst="rect">
            <a:avLst/>
          </a:prstGeom>
          <a:solidFill>
            <a:srgbClr val="D6E9E7"/>
          </a:solidFill>
          <a:ln w="9525">
            <a:solidFill>
              <a:srgbClr val="E6DCCB"/>
            </a:solidFill>
            <a:prstDash val="solid"/>
          </a:ln>
        </p:spPr>
      </p:sp>
      <p:sp>
        <p:nvSpPr>
          <p:cNvPr id="18" name="Text 16"/>
          <p:cNvSpPr txBox="1"/>
          <p:nvPr/>
        </p:nvSpPr>
        <p:spPr>
          <a:xfrm>
            <a:off x="566928" y="3566160"/>
            <a:ext cx="2194560" cy="292608"/>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Demographics &amp; cancer type</a:t>
            </a:r>
            <a:endParaRPr lang="en-US" sz="1300" dirty="0"/>
          </a:p>
        </p:txBody>
      </p:sp>
      <p:sp>
        <p:nvSpPr>
          <p:cNvPr id="19" name="Text 17"/>
          <p:cNvSpPr txBox="1"/>
          <p:nvPr/>
        </p:nvSpPr>
        <p:spPr>
          <a:xfrm>
            <a:off x="2926080" y="1691640"/>
            <a:ext cx="548640" cy="548640"/>
          </a:xfrm>
          <a:prstGeom prst="rect">
            <a:avLst/>
          </a:prstGeom>
          <a:noFill/>
          <a:ln/>
        </p:spPr>
        <p:txBody>
          <a:bodyPr wrap="square" lIns="0" tIns="0" rIns="0" bIns="0" rtlCol="0" anchor="ctr"/>
          <a:lstStyle/>
          <a:p>
            <a:pPr algn="ctr" indent="0" marL="0">
              <a:buNone/>
            </a:pPr>
            <a:r>
              <a:rPr lang="en-US" sz="3400" dirty="0">
                <a:solidFill>
                  <a:srgbClr val="B85042"/>
                </a:solidFill>
                <a:latin typeface="Calibri" pitchFamily="34" charset="0"/>
                <a:ea typeface="Calibri" pitchFamily="34" charset="-122"/>
                <a:cs typeface="Calibri" pitchFamily="34" charset="-120"/>
              </a:rPr>
              <a:t>→</a:t>
            </a:r>
            <a:endParaRPr lang="en-US" sz="3400" dirty="0"/>
          </a:p>
        </p:txBody>
      </p:sp>
      <p:sp>
        <p:nvSpPr>
          <p:cNvPr id="20" name="Shape 18"/>
          <p:cNvSpPr/>
          <p:nvPr/>
        </p:nvSpPr>
        <p:spPr>
          <a:xfrm>
            <a:off x="3566160" y="1325880"/>
            <a:ext cx="1920240" cy="1371600"/>
          </a:xfrm>
          <a:prstGeom prst="roundRect">
            <a:avLst>
              <a:gd name="adj" fmla="val 5333"/>
            </a:avLst>
          </a:prstGeom>
          <a:solidFill>
            <a:srgbClr val="FFFFFF"/>
          </a:solidFill>
          <a:ln w="12700">
            <a:solidFill>
              <a:srgbClr val="E6DCCB"/>
            </a:solidFill>
            <a:prstDash val="solid"/>
          </a:ln>
        </p:spPr>
      </p:sp>
      <p:sp>
        <p:nvSpPr>
          <p:cNvPr id="21" name="Text 19"/>
          <p:cNvSpPr txBox="1"/>
          <p:nvPr/>
        </p:nvSpPr>
        <p:spPr>
          <a:xfrm>
            <a:off x="3566160" y="1463040"/>
            <a:ext cx="1920240" cy="365760"/>
          </a:xfrm>
          <a:prstGeom prst="rect">
            <a:avLst/>
          </a:prstGeom>
          <a:noFill/>
          <a:ln/>
        </p:spPr>
        <p:txBody>
          <a:bodyPr wrap="square" lIns="0" tIns="0" rIns="0" bIns="0" rtlCol="0" anchor="ctr"/>
          <a:lstStyle/>
          <a:p>
            <a:pPr algn="ctr" indent="0" marL="0">
              <a:buNone/>
            </a:pPr>
            <a:r>
              <a:rPr lang="en-US" sz="2000" b="1" dirty="0">
                <a:solidFill>
                  <a:srgbClr val="2A7F7F"/>
                </a:solidFill>
                <a:latin typeface="Cambria" pitchFamily="34" charset="0"/>
                <a:ea typeface="Cambria" pitchFamily="34" charset="-122"/>
                <a:cs typeface="Cambria" pitchFamily="34" charset="-120"/>
              </a:rPr>
              <a:t>ML model</a:t>
            </a:r>
            <a:endParaRPr lang="en-US" sz="2000" dirty="0"/>
          </a:p>
        </p:txBody>
      </p:sp>
      <p:sp>
        <p:nvSpPr>
          <p:cNvPr id="22" name="Text 20"/>
          <p:cNvSpPr txBox="1"/>
          <p:nvPr/>
        </p:nvSpPr>
        <p:spPr>
          <a:xfrm>
            <a:off x="3703320" y="1874520"/>
            <a:ext cx="1645920" cy="731520"/>
          </a:xfrm>
          <a:prstGeom prst="rect">
            <a:avLst/>
          </a:prstGeom>
          <a:noFill/>
          <a:ln/>
        </p:spPr>
        <p:txBody>
          <a:bodyPr wrap="square" lIns="0" tIns="0" rIns="0" bIns="0" rtlCol="0" anchor="t"/>
          <a:lstStyle/>
          <a:p>
            <a:pPr algn="ctr" indent="0" marL="0">
              <a:buNone/>
            </a:pPr>
            <a:r>
              <a:rPr lang="en-US" sz="1300" dirty="0">
                <a:solidFill>
                  <a:srgbClr val="6B645C"/>
                </a:solidFill>
                <a:latin typeface="Calibri" pitchFamily="34" charset="0"/>
                <a:ea typeface="Calibri" pitchFamily="34" charset="-122"/>
                <a:cs typeface="Calibri" pitchFamily="34" charset="-120"/>
              </a:rPr>
              <a:t>learns from data available before the first dose</a:t>
            </a:r>
            <a:endParaRPr lang="en-US" sz="1300" dirty="0"/>
          </a:p>
        </p:txBody>
      </p:sp>
      <p:sp>
        <p:nvSpPr>
          <p:cNvPr id="23" name="Text 21"/>
          <p:cNvSpPr txBox="1"/>
          <p:nvPr/>
        </p:nvSpPr>
        <p:spPr>
          <a:xfrm>
            <a:off x="5532120" y="1691640"/>
            <a:ext cx="548640" cy="548640"/>
          </a:xfrm>
          <a:prstGeom prst="rect">
            <a:avLst/>
          </a:prstGeom>
          <a:noFill/>
          <a:ln/>
        </p:spPr>
        <p:txBody>
          <a:bodyPr wrap="square" lIns="0" tIns="0" rIns="0" bIns="0" rtlCol="0" anchor="ctr"/>
          <a:lstStyle/>
          <a:p>
            <a:pPr algn="ctr" indent="0" marL="0">
              <a:buNone/>
            </a:pPr>
            <a:r>
              <a:rPr lang="en-US" sz="3400" dirty="0">
                <a:solidFill>
                  <a:srgbClr val="B85042"/>
                </a:solidFill>
                <a:latin typeface="Calibri" pitchFamily="34" charset="0"/>
                <a:ea typeface="Calibri" pitchFamily="34" charset="-122"/>
                <a:cs typeface="Calibri" pitchFamily="34" charset="-120"/>
              </a:rPr>
              <a:t>→</a:t>
            </a:r>
            <a:endParaRPr lang="en-US" sz="3400" dirty="0"/>
          </a:p>
        </p:txBody>
      </p:sp>
      <p:sp>
        <p:nvSpPr>
          <p:cNvPr id="24" name="Shape 22"/>
          <p:cNvSpPr/>
          <p:nvPr/>
        </p:nvSpPr>
        <p:spPr>
          <a:xfrm>
            <a:off x="6126480" y="1325880"/>
            <a:ext cx="2560320" cy="1371600"/>
          </a:xfrm>
          <a:prstGeom prst="rect">
            <a:avLst/>
          </a:prstGeom>
          <a:solidFill>
            <a:srgbClr val="B85042"/>
          </a:solidFill>
          <a:ln w="12700">
            <a:solidFill>
              <a:srgbClr val="B85042"/>
            </a:solidFill>
            <a:prstDash val="solid"/>
          </a:ln>
        </p:spPr>
      </p:sp>
      <p:sp>
        <p:nvSpPr>
          <p:cNvPr id="25" name="Text 23"/>
          <p:cNvSpPr txBox="1"/>
          <p:nvPr/>
        </p:nvSpPr>
        <p:spPr>
          <a:xfrm>
            <a:off x="6126480" y="1463040"/>
            <a:ext cx="256032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Risk of decline</a:t>
            </a:r>
            <a:endParaRPr lang="en-US" sz="1600" dirty="0"/>
          </a:p>
        </p:txBody>
      </p:sp>
      <p:sp>
        <p:nvSpPr>
          <p:cNvPr id="26" name="Text 24"/>
          <p:cNvSpPr txBox="1"/>
          <p:nvPr/>
        </p:nvSpPr>
        <p:spPr>
          <a:xfrm>
            <a:off x="6126480" y="1874520"/>
            <a:ext cx="256032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Drop · Threshold</a:t>
            </a:r>
            <a:endParaRPr lang="en-US" sz="2400" dirty="0"/>
          </a:p>
        </p:txBody>
      </p:sp>
      <p:sp>
        <p:nvSpPr>
          <p:cNvPr id="27" name="Text 25"/>
          <p:cNvSpPr txBox="1"/>
          <p:nvPr/>
        </p:nvSpPr>
        <p:spPr>
          <a:xfrm>
            <a:off x="3566160" y="2880360"/>
            <a:ext cx="5120640" cy="685800"/>
          </a:xfrm>
          <a:prstGeom prst="rect">
            <a:avLst/>
          </a:prstGeom>
          <a:noFill/>
          <a:ln/>
        </p:spPr>
        <p:txBody>
          <a:bodyPr wrap="square" lIns="0" tIns="0" rIns="0" bIns="0" rtlCol="0" anchor="t"/>
          <a:lstStyle/>
          <a:p>
            <a:pPr indent="0" marL="0">
              <a:buNone/>
            </a:pPr>
            <a:r>
              <a:rPr lang="en-US" sz="1400" dirty="0">
                <a:solidFill>
                  <a:srgbClr val="6B645C"/>
                </a:solidFill>
                <a:latin typeface="Calibri" pitchFamily="34" charset="0"/>
                <a:ea typeface="Calibri" pitchFamily="34" charset="-122"/>
                <a:cs typeface="Calibri" pitchFamily="34" charset="-120"/>
              </a:rPr>
              <a:t>Chemotherapy often worsens how patients feel physically. Knowing who is at risk before treatment lets clinicians target supportive care.</a:t>
            </a:r>
            <a:endParaRPr lang="en-US" sz="1400" dirty="0"/>
          </a:p>
        </p:txBody>
      </p:sp>
      <p:sp>
        <p:nvSpPr>
          <p:cNvPr id="28" name="Shape 26"/>
          <p:cNvSpPr/>
          <p:nvPr/>
        </p:nvSpPr>
        <p:spPr>
          <a:xfrm>
            <a:off x="457200" y="4023360"/>
            <a:ext cx="8229600" cy="658368"/>
          </a:xfrm>
          <a:prstGeom prst="rect">
            <a:avLst/>
          </a:prstGeom>
          <a:solidFill>
            <a:srgbClr val="D6E9E7"/>
          </a:solidFill>
          <a:ln w="12700">
            <a:solidFill>
              <a:srgbClr val="2A7F7F"/>
            </a:solidFill>
            <a:prstDash val="solid"/>
          </a:ln>
        </p:spPr>
      </p:sp>
      <p:sp>
        <p:nvSpPr>
          <p:cNvPr id="29" name="Text 27"/>
          <p:cNvSpPr txBox="1"/>
          <p:nvPr/>
        </p:nvSpPr>
        <p:spPr>
          <a:xfrm>
            <a:off x="640080" y="4023360"/>
            <a:ext cx="7863840" cy="658368"/>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Objective: at the first chemotherapy dose, predict which patients will report a meaningful decline in physical health (PROMIS GPH).</a:t>
            </a:r>
            <a:endParaRPr lang="en-US" sz="15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Original Paper and Our Contribution</a:t>
            </a:r>
            <a:endParaRPr lang="en-US" sz="2800" dirty="0"/>
          </a:p>
        </p:txBody>
      </p:sp>
      <p:sp>
        <p:nvSpPr>
          <p:cNvPr id="3" name="Shape 1"/>
          <p:cNvSpPr/>
          <p:nvPr/>
        </p:nvSpPr>
        <p:spPr>
          <a:xfrm>
            <a:off x="457200" y="1005840"/>
            <a:ext cx="3931920" cy="3474720"/>
          </a:xfrm>
          <a:prstGeom prst="roundRect">
            <a:avLst>
              <a:gd name="adj" fmla="val 2105"/>
            </a:avLst>
          </a:prstGeom>
          <a:solidFill>
            <a:srgbClr val="FFFFFF"/>
          </a:solidFill>
          <a:ln w="12700">
            <a:solidFill>
              <a:srgbClr val="E6DCCB"/>
            </a:solidFill>
            <a:prstDash val="solid"/>
          </a:ln>
        </p:spPr>
      </p:sp>
      <p:sp>
        <p:nvSpPr>
          <p:cNvPr id="4" name="Text 2"/>
          <p:cNvSpPr txBox="1"/>
          <p:nvPr/>
        </p:nvSpPr>
        <p:spPr>
          <a:xfrm>
            <a:off x="640080" y="1115568"/>
            <a:ext cx="3566160" cy="365760"/>
          </a:xfrm>
          <a:prstGeom prst="rect">
            <a:avLst/>
          </a:prstGeom>
          <a:noFill/>
          <a:ln/>
        </p:spPr>
        <p:txBody>
          <a:bodyPr wrap="square" lIns="0" tIns="0" rIns="0" bIns="0" rtlCol="0" anchor="ctr"/>
          <a:lstStyle/>
          <a:p>
            <a:pPr indent="0" marL="0">
              <a:buNone/>
            </a:pPr>
            <a:r>
              <a:rPr lang="en-US" sz="1800" b="1" dirty="0">
                <a:solidFill>
                  <a:srgbClr val="B85042"/>
                </a:solidFill>
                <a:latin typeface="Cambria" pitchFamily="34" charset="0"/>
                <a:ea typeface="Cambria" pitchFamily="34" charset="-122"/>
                <a:cs typeface="Cambria" pitchFamily="34" charset="-120"/>
              </a:rPr>
              <a:t>Original paper (2020)</a:t>
            </a:r>
            <a:endParaRPr lang="en-US" sz="1800" dirty="0"/>
          </a:p>
        </p:txBody>
      </p:sp>
      <p:sp>
        <p:nvSpPr>
          <p:cNvPr id="5" name="Text 3"/>
          <p:cNvSpPr txBox="1"/>
          <p:nvPr/>
        </p:nvSpPr>
        <p:spPr>
          <a:xfrm>
            <a:off x="640080" y="1600200"/>
            <a:ext cx="3566160" cy="274320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Predict PRO decline before the first chemo dose</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Stanford STARR records, 1,252 patients</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Labels: Drop (≥ 10 pts) and Threshold (≤ 40)</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LASSO, Ridge, Elastic Net, RF, LightGBM, MLP, SVM, KNN</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Soft-voting ensemble: AUROC 0.771 / 0.752</a:t>
            </a:r>
            <a:endParaRPr lang="en-US" sz="1500" dirty="0"/>
          </a:p>
        </p:txBody>
      </p:sp>
      <p:sp>
        <p:nvSpPr>
          <p:cNvPr id="6" name="Shape 4"/>
          <p:cNvSpPr/>
          <p:nvPr/>
        </p:nvSpPr>
        <p:spPr>
          <a:xfrm>
            <a:off x="4754880" y="1005840"/>
            <a:ext cx="3931920" cy="3474720"/>
          </a:xfrm>
          <a:prstGeom prst="roundRect">
            <a:avLst>
              <a:gd name="adj" fmla="val 2105"/>
            </a:avLst>
          </a:prstGeom>
          <a:solidFill>
            <a:srgbClr val="FFFFFF"/>
          </a:solidFill>
          <a:ln w="12700">
            <a:solidFill>
              <a:srgbClr val="E6DCCB"/>
            </a:solidFill>
            <a:prstDash val="solid"/>
          </a:ln>
        </p:spPr>
      </p:sp>
      <p:sp>
        <p:nvSpPr>
          <p:cNvPr id="7" name="Text 5"/>
          <p:cNvSpPr txBox="1"/>
          <p:nvPr/>
        </p:nvSpPr>
        <p:spPr>
          <a:xfrm>
            <a:off x="4937760" y="1115568"/>
            <a:ext cx="3566160" cy="365760"/>
          </a:xfrm>
          <a:prstGeom prst="rect">
            <a:avLst/>
          </a:prstGeom>
          <a:noFill/>
          <a:ln/>
        </p:spPr>
        <p:txBody>
          <a:bodyPr wrap="square" lIns="0" tIns="0" rIns="0" bIns="0" rtlCol="0" anchor="ctr"/>
          <a:lstStyle/>
          <a:p>
            <a:pPr indent="0" marL="0">
              <a:buNone/>
            </a:pPr>
            <a:r>
              <a:rPr lang="en-US" sz="1800" b="1" dirty="0">
                <a:solidFill>
                  <a:srgbClr val="2A7F7F"/>
                </a:solidFill>
                <a:latin typeface="Cambria" pitchFamily="34" charset="0"/>
                <a:ea typeface="Cambria" pitchFamily="34" charset="-122"/>
                <a:cs typeface="Cambria" pitchFamily="34" charset="-120"/>
              </a:rPr>
              <a:t>Our implementation adds</a:t>
            </a:r>
            <a:endParaRPr lang="en-US" sz="1800" dirty="0"/>
          </a:p>
        </p:txBody>
      </p:sp>
      <p:sp>
        <p:nvSpPr>
          <p:cNvPr id="8" name="Text 6"/>
          <p:cNvSpPr txBox="1"/>
          <p:nvPr/>
        </p:nvSpPr>
        <p:spPr>
          <a:xfrm>
            <a:off x="4937760" y="1600200"/>
            <a:ext cx="3566160" cy="28346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Synthetic EHR generator (STARR is private)</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Preprocessing fitted inside each CV fold</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Fixed the paper's test-set early stopping</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22 tests, incl. a post-chemo leakage test</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Accuracy study: tuned cut-off, ceiling</a:t>
            </a:r>
            <a:endParaRPr lang="en-US" sz="1500" dirty="0"/>
          </a:p>
          <a:p>
            <a:pPr marL="342900" indent="-342900">
              <a:spcAft>
                <a:spcPts val="500"/>
              </a:spcAft>
              <a:buSzPct val="100000"/>
              <a:buChar char="•"/>
            </a:pPr>
            <a:r>
              <a:rPr lang="en-US" sz="1500" dirty="0">
                <a:solidFill>
                  <a:srgbClr val="2B2B2B"/>
                </a:solidFill>
                <a:latin typeface="Calibri" pitchFamily="34" charset="0"/>
                <a:ea typeface="Calibri" pitchFamily="34" charset="-122"/>
                <a:cs typeface="Calibri" pitchFamily="34" charset="-120"/>
              </a:rPr>
              <a:t>Modular package + one-command demo</a:t>
            </a:r>
            <a:endParaRPr lang="en-US" sz="1500" dirty="0"/>
          </a:p>
        </p:txBody>
      </p:sp>
      <p:sp>
        <p:nvSpPr>
          <p:cNvPr id="9" name="Text 7"/>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Ostberg &amp; Peterson (2020), CS229; project repository README</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Dataset Overview</a:t>
            </a:r>
            <a:endParaRPr lang="en-US" sz="2800" dirty="0"/>
          </a:p>
        </p:txBody>
      </p:sp>
      <p:graphicFrame>
        <p:nvGraphicFramePr>
          <p:cNvPr id="3" name="Chart 0" descr=""/>
          <p:cNvGraphicFramePr/>
          <p:nvPr/>
        </p:nvGraphicFramePr>
        <p:xfrm>
          <a:off x="365760" y="914400"/>
          <a:ext cx="44805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74920" y="960120"/>
          <a:ext cx="3611880" cy="914400"/>
        </p:xfrm>
        <a:graphic>
          <a:graphicData uri="http://schemas.openxmlformats.org/drawingml/2006/table">
            <a:tbl>
              <a:tblPr/>
              <a:tblGrid>
                <a:gridCol w="914400"/>
                <a:gridCol w="2011680"/>
                <a:gridCol w="685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Label</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Rate</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r>
              <a:tr h="310896">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Drop</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GPH falls ≥ 10 points</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18.5%</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On-treatment GPH ≤ 40</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22.6%</a:t>
                      </a:r>
                      <a:endParaRPr lang="en-US" sz="1200" dirty="0">
                        <a:latin typeface="Calibri" charset="0"/>
                        <a:ea typeface="Calibri" charset="0"/>
                        <a:cs typeface="Calibri" charset="0"/>
                      </a:endParaRPr>
                    </a:p>
                  </a:txBody>
                  <a:tcPr marL="54864" marR="54864" marT="54864" marB="54864">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bl>
          </a:graphicData>
        </a:graphic>
      </p:graphicFrame>
      <p:sp>
        <p:nvSpPr>
          <p:cNvPr id="5" name="Shape 1"/>
          <p:cNvSpPr/>
          <p:nvPr/>
        </p:nvSpPr>
        <p:spPr>
          <a:xfrm>
            <a:off x="5074920" y="2148840"/>
            <a:ext cx="3611880" cy="1417320"/>
          </a:xfrm>
          <a:prstGeom prst="rect">
            <a:avLst/>
          </a:prstGeom>
          <a:solidFill>
            <a:srgbClr val="F1DDD3"/>
          </a:solidFill>
          <a:ln w="9525">
            <a:solidFill>
              <a:srgbClr val="E6DCCB"/>
            </a:solidFill>
            <a:prstDash val="solid"/>
          </a:ln>
        </p:spPr>
      </p:sp>
      <p:sp>
        <p:nvSpPr>
          <p:cNvPr id="6" name="Text 2"/>
          <p:cNvSpPr txBox="1"/>
          <p:nvPr/>
        </p:nvSpPr>
        <p:spPr>
          <a:xfrm>
            <a:off x="5257800" y="2267712"/>
            <a:ext cx="3291840" cy="12344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Cohort: 1,254 patients (paper: 1,252)</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Split: 80 / 20 → 1,003 train · 251 test</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10-fold stratified CV · seed 229</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852 raw features per patient</a:t>
            </a:r>
            <a:endParaRPr lang="en-US" sz="1300" dirty="0"/>
          </a:p>
        </p:txBody>
      </p:sp>
      <p:sp>
        <p:nvSpPr>
          <p:cNvPr id="7" name="Shape 3"/>
          <p:cNvSpPr/>
          <p:nvPr/>
        </p:nvSpPr>
        <p:spPr>
          <a:xfrm>
            <a:off x="457200" y="3977640"/>
            <a:ext cx="8229600" cy="658368"/>
          </a:xfrm>
          <a:prstGeom prst="rect">
            <a:avLst/>
          </a:prstGeom>
          <a:solidFill>
            <a:srgbClr val="D6E9E7"/>
          </a:solidFill>
          <a:ln w="12700">
            <a:solidFill>
              <a:srgbClr val="2A7F7F"/>
            </a:solidFill>
            <a:prstDash val="solid"/>
          </a:ln>
        </p:spPr>
      </p:sp>
      <p:sp>
        <p:nvSpPr>
          <p:cNvPr id="8" name="Text 4"/>
          <p:cNvSpPr txBox="1"/>
          <p:nvPr/>
        </p:nvSpPr>
        <p:spPr>
          <a:xfrm>
            <a:off x="640080" y="3977640"/>
            <a:ext cx="7863840" cy="658368"/>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STARR is private, so we simulate raw event-level records: AUROCs describe the simulator; the method is what we replicate.</a:t>
            </a:r>
            <a:endParaRPr lang="en-US" sz="1400" dirty="0"/>
          </a:p>
        </p:txBody>
      </p:sp>
      <p:sp>
        <p:nvSpPr>
          <p:cNvPr id="9" name="Text 5"/>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data/processed/cohort_flow.csv · src/prodecline/data/simulate.py, cohort.py</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End-to-End Pipeline</a:t>
            </a:r>
            <a:endParaRPr lang="en-US" sz="2800" dirty="0"/>
          </a:p>
        </p:txBody>
      </p:sp>
      <p:sp>
        <p:nvSpPr>
          <p:cNvPr id="3" name="Shape 1"/>
          <p:cNvSpPr/>
          <p:nvPr/>
        </p:nvSpPr>
        <p:spPr>
          <a:xfrm>
            <a:off x="457200" y="1051560"/>
            <a:ext cx="1463040" cy="1188720"/>
          </a:xfrm>
          <a:prstGeom prst="roundRect">
            <a:avLst>
              <a:gd name="adj" fmla="val 6154"/>
            </a:avLst>
          </a:prstGeom>
          <a:solidFill>
            <a:srgbClr val="FFFFFF"/>
          </a:solidFill>
          <a:ln w="12700">
            <a:solidFill>
              <a:srgbClr val="E6DCCB"/>
            </a:solidFill>
            <a:prstDash val="solid"/>
          </a:ln>
        </p:spPr>
      </p:sp>
      <p:sp>
        <p:nvSpPr>
          <p:cNvPr id="4" name="Shape 2"/>
          <p:cNvSpPr/>
          <p:nvPr/>
        </p:nvSpPr>
        <p:spPr>
          <a:xfrm>
            <a:off x="566928" y="1161288"/>
            <a:ext cx="310896" cy="310896"/>
          </a:xfrm>
          <a:prstGeom prst="ellipse">
            <a:avLst/>
          </a:prstGeom>
          <a:solidFill>
            <a:srgbClr val="B85042"/>
          </a:solidFill>
          <a:ln w="12700">
            <a:solidFill>
              <a:srgbClr val="B85042"/>
            </a:solidFill>
            <a:prstDash val="solid"/>
          </a:ln>
        </p:spPr>
      </p:sp>
      <p:sp>
        <p:nvSpPr>
          <p:cNvPr id="5" name="Text 3"/>
          <p:cNvSpPr txBox="1"/>
          <p:nvPr/>
        </p:nvSpPr>
        <p:spPr>
          <a:xfrm>
            <a:off x="566928" y="1161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566928" y="1527048"/>
            <a:ext cx="128016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Simulate EHR</a:t>
            </a:r>
            <a:endParaRPr lang="en-US" sz="1300" dirty="0"/>
          </a:p>
        </p:txBody>
      </p:sp>
      <p:sp>
        <p:nvSpPr>
          <p:cNvPr id="7" name="Text 5"/>
          <p:cNvSpPr txBox="1"/>
          <p:nvPr/>
        </p:nvSpPr>
        <p:spPr>
          <a:xfrm>
            <a:off x="566928" y="1847088"/>
            <a:ext cx="1298448" cy="320040"/>
          </a:xfrm>
          <a:prstGeom prst="rect">
            <a:avLst/>
          </a:prstGeom>
          <a:noFill/>
          <a:ln/>
        </p:spPr>
        <p:txBody>
          <a:bodyPr wrap="square" lIns="0" tIns="0" rIns="0" bIns="0" rtlCol="0" anchor="ctr">
            <a:normAutofit/>
          </a:bodyPr>
          <a:lstStyle/>
          <a:p>
            <a:pPr indent="0" marL="0">
              <a:buNone/>
            </a:pPr>
            <a:r>
              <a:rPr lang="en-US" sz="850" dirty="0">
                <a:solidFill>
                  <a:srgbClr val="6B645C"/>
                </a:solidFill>
                <a:latin typeface="Courier New" pitchFamily="34" charset="0"/>
                <a:ea typeface="Courier New" pitchFamily="34" charset="-122"/>
                <a:cs typeface="Courier New" pitchFamily="34" charset="-120"/>
              </a:rPr>
              <a:t>data/simulate.py</a:t>
            </a:r>
            <a:endParaRPr lang="en-US" sz="850" dirty="0"/>
          </a:p>
        </p:txBody>
      </p:sp>
      <p:sp>
        <p:nvSpPr>
          <p:cNvPr id="8" name="Text 6"/>
          <p:cNvSpPr txBox="1"/>
          <p:nvPr/>
        </p:nvSpPr>
        <p:spPr>
          <a:xfrm>
            <a:off x="1920240" y="1417320"/>
            <a:ext cx="237744" cy="457200"/>
          </a:xfrm>
          <a:prstGeom prst="rect">
            <a:avLst/>
          </a:prstGeom>
          <a:noFill/>
          <a:ln/>
        </p:spPr>
        <p:txBody>
          <a:bodyPr wrap="square" lIns="0" tIns="0" rIns="0" bIns="0" rtlCol="0" anchor="ctr"/>
          <a:lstStyle/>
          <a:p>
            <a:pPr algn="ctr" indent="0" marL="0">
              <a:buNone/>
            </a:pPr>
            <a:r>
              <a:rPr lang="en-US" sz="2200" dirty="0">
                <a:solidFill>
                  <a:srgbClr val="B85042"/>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157984" y="1051560"/>
            <a:ext cx="1463040" cy="1188720"/>
          </a:xfrm>
          <a:prstGeom prst="roundRect">
            <a:avLst>
              <a:gd name="adj" fmla="val 6154"/>
            </a:avLst>
          </a:prstGeom>
          <a:solidFill>
            <a:srgbClr val="FFFFFF"/>
          </a:solidFill>
          <a:ln w="12700">
            <a:solidFill>
              <a:srgbClr val="E6DCCB"/>
            </a:solidFill>
            <a:prstDash val="solid"/>
          </a:ln>
        </p:spPr>
      </p:sp>
      <p:sp>
        <p:nvSpPr>
          <p:cNvPr id="10" name="Shape 8"/>
          <p:cNvSpPr/>
          <p:nvPr/>
        </p:nvSpPr>
        <p:spPr>
          <a:xfrm>
            <a:off x="2267712" y="1161288"/>
            <a:ext cx="310896" cy="310896"/>
          </a:xfrm>
          <a:prstGeom prst="ellipse">
            <a:avLst/>
          </a:prstGeom>
          <a:solidFill>
            <a:srgbClr val="2A7F7F"/>
          </a:solidFill>
          <a:ln w="12700">
            <a:solidFill>
              <a:srgbClr val="2A7F7F"/>
            </a:solidFill>
            <a:prstDash val="solid"/>
          </a:ln>
        </p:spPr>
      </p:sp>
      <p:sp>
        <p:nvSpPr>
          <p:cNvPr id="11" name="Text 9"/>
          <p:cNvSpPr txBox="1"/>
          <p:nvPr/>
        </p:nvSpPr>
        <p:spPr>
          <a:xfrm>
            <a:off x="2267712" y="1161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2267712" y="1527048"/>
            <a:ext cx="128016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Cohort &amp; labels</a:t>
            </a:r>
            <a:endParaRPr lang="en-US" sz="1300" dirty="0"/>
          </a:p>
        </p:txBody>
      </p:sp>
      <p:sp>
        <p:nvSpPr>
          <p:cNvPr id="13" name="Text 11"/>
          <p:cNvSpPr txBox="1"/>
          <p:nvPr/>
        </p:nvSpPr>
        <p:spPr>
          <a:xfrm>
            <a:off x="2267712" y="1847088"/>
            <a:ext cx="1298448" cy="320040"/>
          </a:xfrm>
          <a:prstGeom prst="rect">
            <a:avLst/>
          </a:prstGeom>
          <a:noFill/>
          <a:ln/>
        </p:spPr>
        <p:txBody>
          <a:bodyPr wrap="square" lIns="0" tIns="0" rIns="0" bIns="0" rtlCol="0" anchor="ctr">
            <a:normAutofit/>
          </a:bodyPr>
          <a:lstStyle/>
          <a:p>
            <a:pPr indent="0" marL="0">
              <a:buNone/>
            </a:pPr>
            <a:r>
              <a:rPr lang="en-US" sz="850" dirty="0">
                <a:solidFill>
                  <a:srgbClr val="6B645C"/>
                </a:solidFill>
                <a:latin typeface="Courier New" pitchFamily="34" charset="0"/>
                <a:ea typeface="Courier New" pitchFamily="34" charset="-122"/>
                <a:cs typeface="Courier New" pitchFamily="34" charset="-120"/>
              </a:rPr>
              <a:t>data/cohort.py</a:t>
            </a:r>
            <a:endParaRPr lang="en-US" sz="850" dirty="0"/>
          </a:p>
        </p:txBody>
      </p:sp>
      <p:sp>
        <p:nvSpPr>
          <p:cNvPr id="14" name="Text 12"/>
          <p:cNvSpPr txBox="1"/>
          <p:nvPr/>
        </p:nvSpPr>
        <p:spPr>
          <a:xfrm>
            <a:off x="3621024" y="1417320"/>
            <a:ext cx="237744" cy="457200"/>
          </a:xfrm>
          <a:prstGeom prst="rect">
            <a:avLst/>
          </a:prstGeom>
          <a:noFill/>
          <a:ln/>
        </p:spPr>
        <p:txBody>
          <a:bodyPr wrap="square" lIns="0" tIns="0" rIns="0" bIns="0" rtlCol="0" anchor="ctr"/>
          <a:lstStyle/>
          <a:p>
            <a:pPr algn="ctr" indent="0" marL="0">
              <a:buNone/>
            </a:pPr>
            <a:r>
              <a:rPr lang="en-US" sz="2200" dirty="0">
                <a:solidFill>
                  <a:srgbClr val="B85042"/>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3858768" y="1051560"/>
            <a:ext cx="1463040" cy="1188720"/>
          </a:xfrm>
          <a:prstGeom prst="roundRect">
            <a:avLst>
              <a:gd name="adj" fmla="val 6154"/>
            </a:avLst>
          </a:prstGeom>
          <a:solidFill>
            <a:srgbClr val="FFFFFF"/>
          </a:solidFill>
          <a:ln w="12700">
            <a:solidFill>
              <a:srgbClr val="E6DCCB"/>
            </a:solidFill>
            <a:prstDash val="solid"/>
          </a:ln>
        </p:spPr>
      </p:sp>
      <p:sp>
        <p:nvSpPr>
          <p:cNvPr id="16" name="Shape 14"/>
          <p:cNvSpPr/>
          <p:nvPr/>
        </p:nvSpPr>
        <p:spPr>
          <a:xfrm>
            <a:off x="3968496" y="1161288"/>
            <a:ext cx="310896" cy="310896"/>
          </a:xfrm>
          <a:prstGeom prst="ellipse">
            <a:avLst/>
          </a:prstGeom>
          <a:solidFill>
            <a:srgbClr val="B85042"/>
          </a:solidFill>
          <a:ln w="12700">
            <a:solidFill>
              <a:srgbClr val="B85042"/>
            </a:solidFill>
            <a:prstDash val="solid"/>
          </a:ln>
        </p:spPr>
      </p:sp>
      <p:sp>
        <p:nvSpPr>
          <p:cNvPr id="17" name="Text 15"/>
          <p:cNvSpPr txBox="1"/>
          <p:nvPr/>
        </p:nvSpPr>
        <p:spPr>
          <a:xfrm>
            <a:off x="3968496" y="1161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3968496" y="1527048"/>
            <a:ext cx="128016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Features</a:t>
            </a:r>
            <a:endParaRPr lang="en-US" sz="1300" dirty="0"/>
          </a:p>
        </p:txBody>
      </p:sp>
      <p:sp>
        <p:nvSpPr>
          <p:cNvPr id="19" name="Text 17"/>
          <p:cNvSpPr txBox="1"/>
          <p:nvPr/>
        </p:nvSpPr>
        <p:spPr>
          <a:xfrm>
            <a:off x="3968496" y="1847088"/>
            <a:ext cx="1298448" cy="320040"/>
          </a:xfrm>
          <a:prstGeom prst="rect">
            <a:avLst/>
          </a:prstGeom>
          <a:noFill/>
          <a:ln/>
        </p:spPr>
        <p:txBody>
          <a:bodyPr wrap="square" lIns="0" tIns="0" rIns="0" bIns="0" rtlCol="0" anchor="ctr">
            <a:normAutofit/>
          </a:bodyPr>
          <a:lstStyle/>
          <a:p>
            <a:pPr indent="0" marL="0">
              <a:buNone/>
            </a:pPr>
            <a:r>
              <a:rPr lang="en-US" sz="850" dirty="0">
                <a:solidFill>
                  <a:srgbClr val="6B645C"/>
                </a:solidFill>
                <a:latin typeface="Courier New" pitchFamily="34" charset="0"/>
                <a:ea typeface="Courier New" pitchFamily="34" charset="-122"/>
                <a:cs typeface="Courier New" pitchFamily="34" charset="-120"/>
              </a:rPr>
              <a:t>features/build.py</a:t>
            </a:r>
            <a:endParaRPr lang="en-US" sz="850" dirty="0"/>
          </a:p>
        </p:txBody>
      </p:sp>
      <p:sp>
        <p:nvSpPr>
          <p:cNvPr id="20" name="Text 18"/>
          <p:cNvSpPr txBox="1"/>
          <p:nvPr/>
        </p:nvSpPr>
        <p:spPr>
          <a:xfrm>
            <a:off x="5321808" y="1417320"/>
            <a:ext cx="237744" cy="457200"/>
          </a:xfrm>
          <a:prstGeom prst="rect">
            <a:avLst/>
          </a:prstGeom>
          <a:noFill/>
          <a:ln/>
        </p:spPr>
        <p:txBody>
          <a:bodyPr wrap="square" lIns="0" tIns="0" rIns="0" bIns="0" rtlCol="0" anchor="ctr"/>
          <a:lstStyle/>
          <a:p>
            <a:pPr algn="ctr" indent="0" marL="0">
              <a:buNone/>
            </a:pPr>
            <a:r>
              <a:rPr lang="en-US" sz="2200" dirty="0">
                <a:solidFill>
                  <a:srgbClr val="B85042"/>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5559552" y="1051560"/>
            <a:ext cx="1463040" cy="1188720"/>
          </a:xfrm>
          <a:prstGeom prst="roundRect">
            <a:avLst>
              <a:gd name="adj" fmla="val 6154"/>
            </a:avLst>
          </a:prstGeom>
          <a:solidFill>
            <a:srgbClr val="FFFFFF"/>
          </a:solidFill>
          <a:ln w="12700">
            <a:solidFill>
              <a:srgbClr val="E6DCCB"/>
            </a:solidFill>
            <a:prstDash val="solid"/>
          </a:ln>
        </p:spPr>
      </p:sp>
      <p:sp>
        <p:nvSpPr>
          <p:cNvPr id="22" name="Shape 20"/>
          <p:cNvSpPr/>
          <p:nvPr/>
        </p:nvSpPr>
        <p:spPr>
          <a:xfrm>
            <a:off x="5669280" y="1161288"/>
            <a:ext cx="310896" cy="310896"/>
          </a:xfrm>
          <a:prstGeom prst="ellipse">
            <a:avLst/>
          </a:prstGeom>
          <a:solidFill>
            <a:srgbClr val="2A7F7F"/>
          </a:solidFill>
          <a:ln w="12700">
            <a:solidFill>
              <a:srgbClr val="2A7F7F"/>
            </a:solidFill>
            <a:prstDash val="solid"/>
          </a:ln>
        </p:spPr>
      </p:sp>
      <p:sp>
        <p:nvSpPr>
          <p:cNvPr id="23" name="Text 21"/>
          <p:cNvSpPr txBox="1"/>
          <p:nvPr/>
        </p:nvSpPr>
        <p:spPr>
          <a:xfrm>
            <a:off x="5669280" y="1161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5669280" y="1527048"/>
            <a:ext cx="128016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Preprocess in CV</a:t>
            </a:r>
            <a:endParaRPr lang="en-US" sz="1300" dirty="0"/>
          </a:p>
        </p:txBody>
      </p:sp>
      <p:sp>
        <p:nvSpPr>
          <p:cNvPr id="25" name="Text 23"/>
          <p:cNvSpPr txBox="1"/>
          <p:nvPr/>
        </p:nvSpPr>
        <p:spPr>
          <a:xfrm>
            <a:off x="5669280" y="1847088"/>
            <a:ext cx="1298448" cy="320040"/>
          </a:xfrm>
          <a:prstGeom prst="rect">
            <a:avLst/>
          </a:prstGeom>
          <a:noFill/>
          <a:ln/>
        </p:spPr>
        <p:txBody>
          <a:bodyPr wrap="square" lIns="0" tIns="0" rIns="0" bIns="0" rtlCol="0" anchor="ctr">
            <a:normAutofit/>
          </a:bodyPr>
          <a:lstStyle/>
          <a:p>
            <a:pPr indent="0" marL="0">
              <a:buNone/>
            </a:pPr>
            <a:r>
              <a:rPr lang="en-US" sz="850" dirty="0">
                <a:solidFill>
                  <a:srgbClr val="6B645C"/>
                </a:solidFill>
                <a:latin typeface="Courier New" pitchFamily="34" charset="0"/>
                <a:ea typeface="Courier New" pitchFamily="34" charset="-122"/>
                <a:cs typeface="Courier New" pitchFamily="34" charset="-120"/>
              </a:rPr>
              <a:t>features/preprocess.py</a:t>
            </a:r>
            <a:endParaRPr lang="en-US" sz="850" dirty="0"/>
          </a:p>
        </p:txBody>
      </p:sp>
      <p:sp>
        <p:nvSpPr>
          <p:cNvPr id="26" name="Text 24"/>
          <p:cNvSpPr txBox="1"/>
          <p:nvPr/>
        </p:nvSpPr>
        <p:spPr>
          <a:xfrm>
            <a:off x="7022592" y="1417320"/>
            <a:ext cx="237744" cy="457200"/>
          </a:xfrm>
          <a:prstGeom prst="rect">
            <a:avLst/>
          </a:prstGeom>
          <a:noFill/>
          <a:ln/>
        </p:spPr>
        <p:txBody>
          <a:bodyPr wrap="square" lIns="0" tIns="0" rIns="0" bIns="0" rtlCol="0" anchor="ctr"/>
          <a:lstStyle/>
          <a:p>
            <a:pPr algn="ctr" indent="0" marL="0">
              <a:buNone/>
            </a:pPr>
            <a:r>
              <a:rPr lang="en-US" sz="2200" dirty="0">
                <a:solidFill>
                  <a:srgbClr val="B85042"/>
                </a:solidFill>
                <a:latin typeface="Calibri" pitchFamily="34" charset="0"/>
                <a:ea typeface="Calibri" pitchFamily="34" charset="-122"/>
                <a:cs typeface="Calibri" pitchFamily="34" charset="-120"/>
              </a:rPr>
              <a:t>›</a:t>
            </a:r>
            <a:endParaRPr lang="en-US" sz="2200" dirty="0"/>
          </a:p>
        </p:txBody>
      </p:sp>
      <p:sp>
        <p:nvSpPr>
          <p:cNvPr id="27" name="Shape 25"/>
          <p:cNvSpPr/>
          <p:nvPr/>
        </p:nvSpPr>
        <p:spPr>
          <a:xfrm>
            <a:off x="7260336" y="1051560"/>
            <a:ext cx="1463040" cy="1188720"/>
          </a:xfrm>
          <a:prstGeom prst="roundRect">
            <a:avLst>
              <a:gd name="adj" fmla="val 6154"/>
            </a:avLst>
          </a:prstGeom>
          <a:solidFill>
            <a:srgbClr val="FFFFFF"/>
          </a:solidFill>
          <a:ln w="12700">
            <a:solidFill>
              <a:srgbClr val="E6DCCB"/>
            </a:solidFill>
            <a:prstDash val="solid"/>
          </a:ln>
        </p:spPr>
      </p:sp>
      <p:sp>
        <p:nvSpPr>
          <p:cNvPr id="28" name="Shape 26"/>
          <p:cNvSpPr/>
          <p:nvPr/>
        </p:nvSpPr>
        <p:spPr>
          <a:xfrm>
            <a:off x="7370064" y="1161288"/>
            <a:ext cx="310896" cy="310896"/>
          </a:xfrm>
          <a:prstGeom prst="ellipse">
            <a:avLst/>
          </a:prstGeom>
          <a:solidFill>
            <a:srgbClr val="B85042"/>
          </a:solidFill>
          <a:ln w="12700">
            <a:solidFill>
              <a:srgbClr val="B85042"/>
            </a:solidFill>
            <a:prstDash val="solid"/>
          </a:ln>
        </p:spPr>
      </p:sp>
      <p:sp>
        <p:nvSpPr>
          <p:cNvPr id="29" name="Text 27"/>
          <p:cNvSpPr txBox="1"/>
          <p:nvPr/>
        </p:nvSpPr>
        <p:spPr>
          <a:xfrm>
            <a:off x="7370064" y="11612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8"/>
          <p:cNvSpPr txBox="1"/>
          <p:nvPr/>
        </p:nvSpPr>
        <p:spPr>
          <a:xfrm>
            <a:off x="7370064" y="1527048"/>
            <a:ext cx="128016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Tune 8 models</a:t>
            </a:r>
            <a:endParaRPr lang="en-US" sz="1300" dirty="0"/>
          </a:p>
        </p:txBody>
      </p:sp>
      <p:sp>
        <p:nvSpPr>
          <p:cNvPr id="31" name="Text 29"/>
          <p:cNvSpPr txBox="1"/>
          <p:nvPr/>
        </p:nvSpPr>
        <p:spPr>
          <a:xfrm>
            <a:off x="7370064" y="1847088"/>
            <a:ext cx="1298448" cy="320040"/>
          </a:xfrm>
          <a:prstGeom prst="rect">
            <a:avLst/>
          </a:prstGeom>
          <a:noFill/>
          <a:ln/>
        </p:spPr>
        <p:txBody>
          <a:bodyPr wrap="square" lIns="0" tIns="0" rIns="0" bIns="0" rtlCol="0" anchor="ctr">
            <a:normAutofit/>
          </a:bodyPr>
          <a:lstStyle/>
          <a:p>
            <a:pPr indent="0" marL="0">
              <a:buNone/>
            </a:pPr>
            <a:r>
              <a:rPr lang="en-US" sz="850" dirty="0">
                <a:solidFill>
                  <a:srgbClr val="6B645C"/>
                </a:solidFill>
                <a:latin typeface="Courier New" pitchFamily="34" charset="0"/>
                <a:ea typeface="Courier New" pitchFamily="34" charset="-122"/>
                <a:cs typeface="Courier New" pitchFamily="34" charset="-120"/>
              </a:rPr>
              <a:t>models/registry.py</a:t>
            </a:r>
            <a:endParaRPr lang="en-US" sz="850" dirty="0"/>
          </a:p>
        </p:txBody>
      </p:sp>
      <p:sp>
        <p:nvSpPr>
          <p:cNvPr id="32" name="Shape 30"/>
          <p:cNvSpPr/>
          <p:nvPr/>
        </p:nvSpPr>
        <p:spPr>
          <a:xfrm>
            <a:off x="457200" y="2606040"/>
            <a:ext cx="1463040" cy="1188720"/>
          </a:xfrm>
          <a:prstGeom prst="roundRect">
            <a:avLst>
              <a:gd name="adj" fmla="val 6154"/>
            </a:avLst>
          </a:prstGeom>
          <a:solidFill>
            <a:srgbClr val="FFFFFF"/>
          </a:solidFill>
          <a:ln w="12700">
            <a:solidFill>
              <a:srgbClr val="E6DCCB"/>
            </a:solidFill>
            <a:prstDash val="solid"/>
          </a:ln>
        </p:spPr>
      </p:sp>
      <p:sp>
        <p:nvSpPr>
          <p:cNvPr id="33" name="Shape 31"/>
          <p:cNvSpPr/>
          <p:nvPr/>
        </p:nvSpPr>
        <p:spPr>
          <a:xfrm>
            <a:off x="566928" y="2715768"/>
            <a:ext cx="310896" cy="310896"/>
          </a:xfrm>
          <a:prstGeom prst="ellipse">
            <a:avLst/>
          </a:prstGeom>
          <a:solidFill>
            <a:srgbClr val="2A7F7F"/>
          </a:solidFill>
          <a:ln w="12700">
            <a:solidFill>
              <a:srgbClr val="2A7F7F"/>
            </a:solidFill>
            <a:prstDash val="solid"/>
          </a:ln>
        </p:spPr>
      </p:sp>
      <p:sp>
        <p:nvSpPr>
          <p:cNvPr id="34" name="Text 32"/>
          <p:cNvSpPr txBox="1"/>
          <p:nvPr/>
        </p:nvSpPr>
        <p:spPr>
          <a:xfrm>
            <a:off x="566928" y="27157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3"/>
          <p:cNvSpPr txBox="1"/>
          <p:nvPr/>
        </p:nvSpPr>
        <p:spPr>
          <a:xfrm>
            <a:off x="566928" y="3081528"/>
            <a:ext cx="128016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Ensemble</a:t>
            </a:r>
            <a:endParaRPr lang="en-US" sz="1300" dirty="0"/>
          </a:p>
        </p:txBody>
      </p:sp>
      <p:sp>
        <p:nvSpPr>
          <p:cNvPr id="36" name="Text 34"/>
          <p:cNvSpPr txBox="1"/>
          <p:nvPr/>
        </p:nvSpPr>
        <p:spPr>
          <a:xfrm>
            <a:off x="566928" y="3401568"/>
            <a:ext cx="1298448" cy="320040"/>
          </a:xfrm>
          <a:prstGeom prst="rect">
            <a:avLst/>
          </a:prstGeom>
          <a:noFill/>
          <a:ln/>
        </p:spPr>
        <p:txBody>
          <a:bodyPr wrap="square" lIns="0" tIns="0" rIns="0" bIns="0" rtlCol="0" anchor="ctr">
            <a:normAutofit/>
          </a:bodyPr>
          <a:lstStyle/>
          <a:p>
            <a:pPr indent="0" marL="0">
              <a:buNone/>
            </a:pPr>
            <a:r>
              <a:rPr lang="en-US" sz="850" dirty="0">
                <a:solidFill>
                  <a:srgbClr val="6B645C"/>
                </a:solidFill>
                <a:latin typeface="Courier New" pitchFamily="34" charset="0"/>
                <a:ea typeface="Courier New" pitchFamily="34" charset="-122"/>
                <a:cs typeface="Courier New" pitchFamily="34" charset="-120"/>
              </a:rPr>
              <a:t>models/training.py</a:t>
            </a:r>
            <a:endParaRPr lang="en-US" sz="850" dirty="0"/>
          </a:p>
        </p:txBody>
      </p:sp>
      <p:sp>
        <p:nvSpPr>
          <p:cNvPr id="37" name="Text 35"/>
          <p:cNvSpPr txBox="1"/>
          <p:nvPr/>
        </p:nvSpPr>
        <p:spPr>
          <a:xfrm>
            <a:off x="1920240" y="2971800"/>
            <a:ext cx="237744" cy="457200"/>
          </a:xfrm>
          <a:prstGeom prst="rect">
            <a:avLst/>
          </a:prstGeom>
          <a:noFill/>
          <a:ln/>
        </p:spPr>
        <p:txBody>
          <a:bodyPr wrap="square" lIns="0" tIns="0" rIns="0" bIns="0" rtlCol="0" anchor="ctr"/>
          <a:lstStyle/>
          <a:p>
            <a:pPr algn="ctr" indent="0" marL="0">
              <a:buNone/>
            </a:pPr>
            <a:r>
              <a:rPr lang="en-US" sz="2200" dirty="0">
                <a:solidFill>
                  <a:srgbClr val="B85042"/>
                </a:solidFill>
                <a:latin typeface="Calibri" pitchFamily="34" charset="0"/>
                <a:ea typeface="Calibri" pitchFamily="34" charset="-122"/>
                <a:cs typeface="Calibri" pitchFamily="34" charset="-120"/>
              </a:rPr>
              <a:t>›</a:t>
            </a:r>
            <a:endParaRPr lang="en-US" sz="2200" dirty="0"/>
          </a:p>
        </p:txBody>
      </p:sp>
      <p:sp>
        <p:nvSpPr>
          <p:cNvPr id="38" name="Shape 36"/>
          <p:cNvSpPr/>
          <p:nvPr/>
        </p:nvSpPr>
        <p:spPr>
          <a:xfrm>
            <a:off x="2157984" y="2606040"/>
            <a:ext cx="1463040" cy="1188720"/>
          </a:xfrm>
          <a:prstGeom prst="roundRect">
            <a:avLst>
              <a:gd name="adj" fmla="val 6154"/>
            </a:avLst>
          </a:prstGeom>
          <a:solidFill>
            <a:srgbClr val="FFFFFF"/>
          </a:solidFill>
          <a:ln w="12700">
            <a:solidFill>
              <a:srgbClr val="E6DCCB"/>
            </a:solidFill>
            <a:prstDash val="solid"/>
          </a:ln>
        </p:spPr>
      </p:sp>
      <p:sp>
        <p:nvSpPr>
          <p:cNvPr id="39" name="Shape 37"/>
          <p:cNvSpPr/>
          <p:nvPr/>
        </p:nvSpPr>
        <p:spPr>
          <a:xfrm>
            <a:off x="2267712" y="2715768"/>
            <a:ext cx="310896" cy="310896"/>
          </a:xfrm>
          <a:prstGeom prst="ellipse">
            <a:avLst/>
          </a:prstGeom>
          <a:solidFill>
            <a:srgbClr val="B85042"/>
          </a:solidFill>
          <a:ln w="12700">
            <a:solidFill>
              <a:srgbClr val="B85042"/>
            </a:solidFill>
            <a:prstDash val="solid"/>
          </a:ln>
        </p:spPr>
      </p:sp>
      <p:sp>
        <p:nvSpPr>
          <p:cNvPr id="40" name="Text 38"/>
          <p:cNvSpPr txBox="1"/>
          <p:nvPr/>
        </p:nvSpPr>
        <p:spPr>
          <a:xfrm>
            <a:off x="2267712" y="27157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1" name="Text 39"/>
          <p:cNvSpPr txBox="1"/>
          <p:nvPr/>
        </p:nvSpPr>
        <p:spPr>
          <a:xfrm>
            <a:off x="2267712" y="3081528"/>
            <a:ext cx="128016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Evaluate on test</a:t>
            </a:r>
            <a:endParaRPr lang="en-US" sz="1300" dirty="0"/>
          </a:p>
        </p:txBody>
      </p:sp>
      <p:sp>
        <p:nvSpPr>
          <p:cNvPr id="42" name="Text 40"/>
          <p:cNvSpPr txBox="1"/>
          <p:nvPr/>
        </p:nvSpPr>
        <p:spPr>
          <a:xfrm>
            <a:off x="2267712" y="3401568"/>
            <a:ext cx="1298448" cy="320040"/>
          </a:xfrm>
          <a:prstGeom prst="rect">
            <a:avLst/>
          </a:prstGeom>
          <a:noFill/>
          <a:ln/>
        </p:spPr>
        <p:txBody>
          <a:bodyPr wrap="square" lIns="0" tIns="0" rIns="0" bIns="0" rtlCol="0" anchor="ctr">
            <a:normAutofit/>
          </a:bodyPr>
          <a:lstStyle/>
          <a:p>
            <a:pPr indent="0" marL="0">
              <a:buNone/>
            </a:pPr>
            <a:r>
              <a:rPr lang="en-US" sz="850" dirty="0">
                <a:solidFill>
                  <a:srgbClr val="6B645C"/>
                </a:solidFill>
                <a:latin typeface="Courier New" pitchFamily="34" charset="0"/>
                <a:ea typeface="Courier New" pitchFamily="34" charset="-122"/>
                <a:cs typeface="Courier New" pitchFamily="34" charset="-120"/>
              </a:rPr>
              <a:t>evaluation/metrics.py</a:t>
            </a:r>
            <a:endParaRPr lang="en-US" sz="850" dirty="0"/>
          </a:p>
        </p:txBody>
      </p:sp>
      <p:sp>
        <p:nvSpPr>
          <p:cNvPr id="43" name="Text 41"/>
          <p:cNvSpPr txBox="1"/>
          <p:nvPr/>
        </p:nvSpPr>
        <p:spPr>
          <a:xfrm>
            <a:off x="3621024" y="2971800"/>
            <a:ext cx="237744" cy="457200"/>
          </a:xfrm>
          <a:prstGeom prst="rect">
            <a:avLst/>
          </a:prstGeom>
          <a:noFill/>
          <a:ln/>
        </p:spPr>
        <p:txBody>
          <a:bodyPr wrap="square" lIns="0" tIns="0" rIns="0" bIns="0" rtlCol="0" anchor="ctr"/>
          <a:lstStyle/>
          <a:p>
            <a:pPr algn="ctr" indent="0" marL="0">
              <a:buNone/>
            </a:pPr>
            <a:r>
              <a:rPr lang="en-US" sz="2200" dirty="0">
                <a:solidFill>
                  <a:srgbClr val="B85042"/>
                </a:solidFill>
                <a:latin typeface="Calibri" pitchFamily="34" charset="0"/>
                <a:ea typeface="Calibri" pitchFamily="34" charset="-122"/>
                <a:cs typeface="Calibri" pitchFamily="34" charset="-120"/>
              </a:rPr>
              <a:t>›</a:t>
            </a:r>
            <a:endParaRPr lang="en-US" sz="2200" dirty="0"/>
          </a:p>
        </p:txBody>
      </p:sp>
      <p:sp>
        <p:nvSpPr>
          <p:cNvPr id="44" name="Shape 42"/>
          <p:cNvSpPr/>
          <p:nvPr/>
        </p:nvSpPr>
        <p:spPr>
          <a:xfrm>
            <a:off x="3858768" y="2606040"/>
            <a:ext cx="1463040" cy="1188720"/>
          </a:xfrm>
          <a:prstGeom prst="roundRect">
            <a:avLst>
              <a:gd name="adj" fmla="val 6154"/>
            </a:avLst>
          </a:prstGeom>
          <a:solidFill>
            <a:srgbClr val="FFFFFF"/>
          </a:solidFill>
          <a:ln w="12700">
            <a:solidFill>
              <a:srgbClr val="E6DCCB"/>
            </a:solidFill>
            <a:prstDash val="solid"/>
          </a:ln>
        </p:spPr>
      </p:sp>
      <p:sp>
        <p:nvSpPr>
          <p:cNvPr id="45" name="Shape 43"/>
          <p:cNvSpPr/>
          <p:nvPr/>
        </p:nvSpPr>
        <p:spPr>
          <a:xfrm>
            <a:off x="3968496" y="2715768"/>
            <a:ext cx="310896" cy="310896"/>
          </a:xfrm>
          <a:prstGeom prst="ellipse">
            <a:avLst/>
          </a:prstGeom>
          <a:solidFill>
            <a:srgbClr val="2A7F7F"/>
          </a:solidFill>
          <a:ln w="12700">
            <a:solidFill>
              <a:srgbClr val="2A7F7F"/>
            </a:solidFill>
            <a:prstDash val="solid"/>
          </a:ln>
        </p:spPr>
      </p:sp>
      <p:sp>
        <p:nvSpPr>
          <p:cNvPr id="46" name="Text 44"/>
          <p:cNvSpPr txBox="1"/>
          <p:nvPr/>
        </p:nvSpPr>
        <p:spPr>
          <a:xfrm>
            <a:off x="3968496" y="27157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7" name="Text 45"/>
          <p:cNvSpPr txBox="1"/>
          <p:nvPr/>
        </p:nvSpPr>
        <p:spPr>
          <a:xfrm>
            <a:off x="3968496" y="3081528"/>
            <a:ext cx="1280160" cy="320040"/>
          </a:xfrm>
          <a:prstGeom prst="rect">
            <a:avLst/>
          </a:prstGeom>
          <a:noFill/>
          <a:ln/>
        </p:spPr>
        <p:txBody>
          <a:bodyPr wrap="square" lIns="0" tIns="0" rIns="0" bIns="0" rtlCol="0" anchor="ctr"/>
          <a:lstStyle/>
          <a:p>
            <a:pPr indent="0" marL="0">
              <a:buNone/>
            </a:pPr>
            <a:r>
              <a:rPr lang="en-US" sz="1300" b="1" dirty="0">
                <a:solidFill>
                  <a:srgbClr val="2B2B2B"/>
                </a:solidFill>
                <a:latin typeface="Calibri" pitchFamily="34" charset="0"/>
                <a:ea typeface="Calibri" pitchFamily="34" charset="-122"/>
                <a:cs typeface="Calibri" pitchFamily="34" charset="-120"/>
              </a:rPr>
              <a:t>Ablation &amp; plots</a:t>
            </a:r>
            <a:endParaRPr lang="en-US" sz="1300" dirty="0"/>
          </a:p>
        </p:txBody>
      </p:sp>
      <p:sp>
        <p:nvSpPr>
          <p:cNvPr id="48" name="Text 46"/>
          <p:cNvSpPr txBox="1"/>
          <p:nvPr/>
        </p:nvSpPr>
        <p:spPr>
          <a:xfrm>
            <a:off x="3968496" y="3401568"/>
            <a:ext cx="1298448" cy="320040"/>
          </a:xfrm>
          <a:prstGeom prst="rect">
            <a:avLst/>
          </a:prstGeom>
          <a:noFill/>
          <a:ln/>
        </p:spPr>
        <p:txBody>
          <a:bodyPr wrap="square" lIns="0" tIns="0" rIns="0" bIns="0" rtlCol="0" anchor="ctr">
            <a:normAutofit/>
          </a:bodyPr>
          <a:lstStyle/>
          <a:p>
            <a:pPr indent="0" marL="0">
              <a:buNone/>
            </a:pPr>
            <a:r>
              <a:rPr lang="en-US" sz="850" dirty="0">
                <a:solidFill>
                  <a:srgbClr val="6B645C"/>
                </a:solidFill>
                <a:latin typeface="Courier New" pitchFamily="34" charset="0"/>
                <a:ea typeface="Courier New" pitchFamily="34" charset="-122"/>
                <a:cs typeface="Courier New" pitchFamily="34" charset="-120"/>
              </a:rPr>
              <a:t>pipeline.py · plots.py</a:t>
            </a:r>
            <a:endParaRPr lang="en-US" sz="850" dirty="0"/>
          </a:p>
        </p:txBody>
      </p:sp>
      <p:sp>
        <p:nvSpPr>
          <p:cNvPr id="49" name="Text 47"/>
          <p:cNvSpPr txBox="1"/>
          <p:nvPr/>
        </p:nvSpPr>
        <p:spPr>
          <a:xfrm>
            <a:off x="5321808" y="2971800"/>
            <a:ext cx="237744" cy="457200"/>
          </a:xfrm>
          <a:prstGeom prst="rect">
            <a:avLst/>
          </a:prstGeom>
          <a:noFill/>
          <a:ln/>
        </p:spPr>
        <p:txBody>
          <a:bodyPr wrap="square" lIns="0" tIns="0" rIns="0" bIns="0" rtlCol="0" anchor="ctr"/>
          <a:lstStyle/>
          <a:p>
            <a:pPr algn="ctr" indent="0" marL="0">
              <a:buNone/>
            </a:pPr>
            <a:r>
              <a:rPr lang="en-US" sz="2200" dirty="0">
                <a:solidFill>
                  <a:srgbClr val="B85042"/>
                </a:solidFill>
                <a:latin typeface="Calibri" pitchFamily="34" charset="0"/>
                <a:ea typeface="Calibri" pitchFamily="34" charset="-122"/>
                <a:cs typeface="Calibri" pitchFamily="34" charset="-120"/>
              </a:rPr>
              <a:t>›</a:t>
            </a:r>
            <a:endParaRPr lang="en-US" sz="2200" dirty="0"/>
          </a:p>
        </p:txBody>
      </p:sp>
      <p:sp>
        <p:nvSpPr>
          <p:cNvPr id="50" name="Shape 48"/>
          <p:cNvSpPr/>
          <p:nvPr/>
        </p:nvSpPr>
        <p:spPr>
          <a:xfrm>
            <a:off x="5559552" y="2606040"/>
            <a:ext cx="1463040" cy="1188720"/>
          </a:xfrm>
          <a:prstGeom prst="roundRect">
            <a:avLst>
              <a:gd name="adj" fmla="val 6154"/>
            </a:avLst>
          </a:prstGeom>
          <a:solidFill>
            <a:srgbClr val="B85042"/>
          </a:solidFill>
          <a:ln w="12700">
            <a:solidFill>
              <a:srgbClr val="B85042"/>
            </a:solidFill>
            <a:prstDash val="solid"/>
          </a:ln>
        </p:spPr>
      </p:sp>
      <p:sp>
        <p:nvSpPr>
          <p:cNvPr id="51" name="Shape 49"/>
          <p:cNvSpPr/>
          <p:nvPr/>
        </p:nvSpPr>
        <p:spPr>
          <a:xfrm>
            <a:off x="5669280" y="2715768"/>
            <a:ext cx="310896" cy="310896"/>
          </a:xfrm>
          <a:prstGeom prst="ellipse">
            <a:avLst/>
          </a:prstGeom>
          <a:solidFill>
            <a:srgbClr val="B85042"/>
          </a:solidFill>
          <a:ln w="12700">
            <a:solidFill>
              <a:srgbClr val="B85042"/>
            </a:solidFill>
            <a:prstDash val="solid"/>
          </a:ln>
        </p:spPr>
      </p:sp>
      <p:sp>
        <p:nvSpPr>
          <p:cNvPr id="52" name="Text 50"/>
          <p:cNvSpPr txBox="1"/>
          <p:nvPr/>
        </p:nvSpPr>
        <p:spPr>
          <a:xfrm>
            <a:off x="5669280" y="27157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3" name="Text 51"/>
          <p:cNvSpPr txBox="1"/>
          <p:nvPr/>
        </p:nvSpPr>
        <p:spPr>
          <a:xfrm>
            <a:off x="5669280" y="3081528"/>
            <a:ext cx="128016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Live demo</a:t>
            </a:r>
            <a:endParaRPr lang="en-US" sz="1300" dirty="0"/>
          </a:p>
        </p:txBody>
      </p:sp>
      <p:sp>
        <p:nvSpPr>
          <p:cNvPr id="54" name="Text 52"/>
          <p:cNvSpPr txBox="1"/>
          <p:nvPr/>
        </p:nvSpPr>
        <p:spPr>
          <a:xfrm>
            <a:off x="5669280" y="3401568"/>
            <a:ext cx="1298448" cy="320040"/>
          </a:xfrm>
          <a:prstGeom prst="rect">
            <a:avLst/>
          </a:prstGeom>
          <a:noFill/>
          <a:ln/>
        </p:spPr>
        <p:txBody>
          <a:bodyPr wrap="square" lIns="0" tIns="0" rIns="0" bIns="0" rtlCol="0" anchor="ctr">
            <a:normAutofit/>
          </a:bodyPr>
          <a:lstStyle/>
          <a:p>
            <a:pPr indent="0" marL="0">
              <a:buNone/>
            </a:pPr>
            <a:r>
              <a:rPr lang="en-US" sz="850" dirty="0">
                <a:solidFill>
                  <a:srgbClr val="FFFFFF"/>
                </a:solidFill>
                <a:latin typeface="Courier New" pitchFamily="34" charset="0"/>
                <a:ea typeface="Courier New" pitchFamily="34" charset="-122"/>
                <a:cs typeface="Courier New" pitchFamily="34" charset="-120"/>
              </a:rPr>
              <a:t>demo.py</a:t>
            </a:r>
            <a:endParaRPr lang="en-US" sz="850" dirty="0"/>
          </a:p>
        </p:txBody>
      </p:sp>
      <p:sp>
        <p:nvSpPr>
          <p:cNvPr id="55" name="Text 53"/>
          <p:cNvSpPr txBox="1"/>
          <p:nvPr/>
        </p:nvSpPr>
        <p:spPr>
          <a:xfrm>
            <a:off x="6949440" y="2286000"/>
            <a:ext cx="1737360" cy="228600"/>
          </a:xfrm>
          <a:prstGeom prst="rect">
            <a:avLst/>
          </a:prstGeom>
          <a:noFill/>
          <a:ln/>
        </p:spPr>
        <p:txBody>
          <a:bodyPr wrap="square" lIns="0" tIns="0" rIns="0" bIns="0" rtlCol="0" anchor="ctr"/>
          <a:lstStyle/>
          <a:p>
            <a:pPr algn="r" indent="0" marL="0">
              <a:buNone/>
            </a:pPr>
            <a:r>
              <a:rPr lang="en-US" sz="1000" i="1" dirty="0">
                <a:solidFill>
                  <a:srgbClr val="6B645C"/>
                </a:solidFill>
                <a:latin typeface="Calibri" pitchFamily="34" charset="0"/>
                <a:ea typeface="Calibri" pitchFamily="34" charset="-122"/>
                <a:cs typeface="Calibri" pitchFamily="34" charset="-120"/>
              </a:rPr>
              <a:t>↓ continues on next row</a:t>
            </a:r>
            <a:endParaRPr lang="en-US" sz="1000" dirty="0"/>
          </a:p>
        </p:txBody>
      </p:sp>
      <p:sp>
        <p:nvSpPr>
          <p:cNvPr id="56" name="Text 54"/>
          <p:cNvSpPr txBox="1"/>
          <p:nvPr/>
        </p:nvSpPr>
        <p:spPr>
          <a:xfrm>
            <a:off x="457200" y="4069080"/>
            <a:ext cx="8229600" cy="365760"/>
          </a:xfrm>
          <a:prstGeom prst="rect">
            <a:avLst/>
          </a:prstGeom>
          <a:noFill/>
          <a:ln/>
        </p:spPr>
        <p:txBody>
          <a:bodyPr wrap="square" lIns="0" tIns="0" rIns="0" bIns="0" rtlCol="0" anchor="ctr"/>
          <a:lstStyle/>
          <a:p>
            <a:pPr indent="0" marL="0">
              <a:buNone/>
            </a:pPr>
            <a:r>
              <a:rPr lang="en-US" sz="1300" i="1" dirty="0">
                <a:solidFill>
                  <a:srgbClr val="6B645C"/>
                </a:solidFill>
                <a:latin typeface="Calibri" pitchFamily="34" charset="0"/>
                <a:ea typeface="Calibri" pitchFamily="34" charset="-122"/>
                <a:cs typeface="Calibri" pitchFamily="34" charset="-120"/>
              </a:rPr>
              <a:t>Each stage reads the previous stage's files:  python -m prodecline data | train | ablate | figures | improve</a:t>
            </a:r>
            <a:endParaRPr lang="en-US" sz="1300" dirty="0"/>
          </a:p>
        </p:txBody>
      </p:sp>
      <p:sp>
        <p:nvSpPr>
          <p:cNvPr id="57" name="Text 55"/>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repository src/prodecline/ and demo.py</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Feature Engineering</a:t>
            </a:r>
            <a:endParaRPr lang="en-US" sz="2800" dirty="0"/>
          </a:p>
        </p:txBody>
      </p:sp>
      <p:sp>
        <p:nvSpPr>
          <p:cNvPr id="3" name="Shape 1"/>
          <p:cNvSpPr/>
          <p:nvPr/>
        </p:nvSpPr>
        <p:spPr>
          <a:xfrm>
            <a:off x="457200" y="1005840"/>
            <a:ext cx="4023360" cy="914400"/>
          </a:xfrm>
          <a:prstGeom prst="roundRect">
            <a:avLst>
              <a:gd name="adj" fmla="val 8000"/>
            </a:avLst>
          </a:prstGeom>
          <a:solidFill>
            <a:srgbClr val="FFFFFF"/>
          </a:solidFill>
          <a:ln w="12700">
            <a:solidFill>
              <a:srgbClr val="E6DCCB"/>
            </a:solidFill>
            <a:prstDash val="solid"/>
          </a:ln>
        </p:spPr>
      </p:sp>
      <p:sp>
        <p:nvSpPr>
          <p:cNvPr id="4" name="Shape 2"/>
          <p:cNvSpPr/>
          <p:nvPr/>
        </p:nvSpPr>
        <p:spPr>
          <a:xfrm>
            <a:off x="594360" y="1234440"/>
            <a:ext cx="457200" cy="457200"/>
          </a:xfrm>
          <a:prstGeom prst="ellipse">
            <a:avLst/>
          </a:prstGeom>
          <a:solidFill>
            <a:srgbClr val="B85042"/>
          </a:solidFill>
          <a:ln w="12700">
            <a:solidFill>
              <a:srgbClr val="B85042"/>
            </a:solidFill>
            <a:prstDash val="solid"/>
          </a:ln>
        </p:spPr>
      </p:sp>
      <p:sp>
        <p:nvSpPr>
          <p:cNvPr id="5" name="Text 3"/>
          <p:cNvSpPr txBox="1"/>
          <p:nvPr/>
        </p:nvSpPr>
        <p:spPr>
          <a:xfrm>
            <a:off x="59436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6" name="Text 4"/>
          <p:cNvSpPr txBox="1"/>
          <p:nvPr/>
        </p:nvSpPr>
        <p:spPr>
          <a:xfrm>
            <a:off x="1188720" y="1097280"/>
            <a:ext cx="3154680" cy="292608"/>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Baseline PROMIS &amp; demographics</a:t>
            </a:r>
            <a:endParaRPr lang="en-US" sz="1500" dirty="0"/>
          </a:p>
        </p:txBody>
      </p:sp>
      <p:sp>
        <p:nvSpPr>
          <p:cNvPr id="7" name="Text 5"/>
          <p:cNvSpPr txBox="1"/>
          <p:nvPr/>
        </p:nvSpPr>
        <p:spPr>
          <a:xfrm>
            <a:off x="1188720" y="1389888"/>
            <a:ext cx="3154680" cy="475488"/>
          </a:xfrm>
          <a:prstGeom prst="rect">
            <a:avLst/>
          </a:prstGeom>
          <a:noFill/>
          <a:ln/>
        </p:spPr>
        <p:txBody>
          <a:bodyPr wrap="square" lIns="0" tIns="0" rIns="0" bIns="0" rtlCol="0" anchor="t"/>
          <a:lstStyle/>
          <a:p>
            <a:pPr indent="0" marL="0">
              <a:buNone/>
            </a:pPr>
            <a:r>
              <a:rPr lang="en-US" sz="1200" dirty="0">
                <a:solidFill>
                  <a:srgbClr val="6B645C"/>
                </a:solidFill>
                <a:latin typeface="Calibri" pitchFamily="34" charset="0"/>
                <a:ea typeface="Calibri" pitchFamily="34" charset="-122"/>
                <a:cs typeface="Calibri" pitchFamily="34" charset="-120"/>
              </a:rPr>
              <a:t>Pre-chemo GPH &amp; GMH scores, age, sex, cancer type, insurance (one-hot)</a:t>
            </a:r>
            <a:endParaRPr lang="en-US" sz="1200" dirty="0"/>
          </a:p>
        </p:txBody>
      </p:sp>
      <p:sp>
        <p:nvSpPr>
          <p:cNvPr id="8" name="Shape 6"/>
          <p:cNvSpPr/>
          <p:nvPr/>
        </p:nvSpPr>
        <p:spPr>
          <a:xfrm>
            <a:off x="4663440" y="1005840"/>
            <a:ext cx="4023360" cy="914400"/>
          </a:xfrm>
          <a:prstGeom prst="roundRect">
            <a:avLst>
              <a:gd name="adj" fmla="val 8000"/>
            </a:avLst>
          </a:prstGeom>
          <a:solidFill>
            <a:srgbClr val="FFFFFF"/>
          </a:solidFill>
          <a:ln w="12700">
            <a:solidFill>
              <a:srgbClr val="E6DCCB"/>
            </a:solidFill>
            <a:prstDash val="solid"/>
          </a:ln>
        </p:spPr>
      </p:sp>
      <p:sp>
        <p:nvSpPr>
          <p:cNvPr id="9" name="Shape 7"/>
          <p:cNvSpPr/>
          <p:nvPr/>
        </p:nvSpPr>
        <p:spPr>
          <a:xfrm>
            <a:off x="4800600" y="1234440"/>
            <a:ext cx="457200" cy="457200"/>
          </a:xfrm>
          <a:prstGeom prst="ellipse">
            <a:avLst/>
          </a:prstGeom>
          <a:solidFill>
            <a:srgbClr val="2A7F7F"/>
          </a:solidFill>
          <a:ln w="12700">
            <a:solidFill>
              <a:srgbClr val="2A7F7F"/>
            </a:solidFill>
            <a:prstDash val="solid"/>
          </a:ln>
        </p:spPr>
      </p:sp>
      <p:sp>
        <p:nvSpPr>
          <p:cNvPr id="10" name="Text 8"/>
          <p:cNvSpPr txBox="1"/>
          <p:nvPr/>
        </p:nvSpPr>
        <p:spPr>
          <a:xfrm>
            <a:off x="4800600" y="1234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a:t>
            </a:r>
            <a:endParaRPr lang="en-US" sz="1600" dirty="0"/>
          </a:p>
        </p:txBody>
      </p:sp>
      <p:sp>
        <p:nvSpPr>
          <p:cNvPr id="11" name="Text 9"/>
          <p:cNvSpPr txBox="1"/>
          <p:nvPr/>
        </p:nvSpPr>
        <p:spPr>
          <a:xfrm>
            <a:off x="5394960" y="1097280"/>
            <a:ext cx="3154680" cy="292608"/>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Labs &amp; vitals</a:t>
            </a:r>
            <a:endParaRPr lang="en-US" sz="1500" dirty="0"/>
          </a:p>
        </p:txBody>
      </p:sp>
      <p:sp>
        <p:nvSpPr>
          <p:cNvPr id="12" name="Text 10"/>
          <p:cNvSpPr txBox="1"/>
          <p:nvPr/>
        </p:nvSpPr>
        <p:spPr>
          <a:xfrm>
            <a:off x="5394960" y="1389888"/>
            <a:ext cx="3154680" cy="475488"/>
          </a:xfrm>
          <a:prstGeom prst="rect">
            <a:avLst/>
          </a:prstGeom>
          <a:noFill/>
          <a:ln/>
        </p:spPr>
        <p:txBody>
          <a:bodyPr wrap="square" lIns="0" tIns="0" rIns="0" bIns="0" rtlCol="0" anchor="t"/>
          <a:lstStyle/>
          <a:p>
            <a:pPr indent="0" marL="0">
              <a:buNone/>
            </a:pPr>
            <a:r>
              <a:rPr lang="en-US" sz="1200" dirty="0">
                <a:solidFill>
                  <a:srgbClr val="6B645C"/>
                </a:solidFill>
                <a:latin typeface="Calibri" pitchFamily="34" charset="0"/>
                <a:ea typeface="Calibri" pitchFamily="34" charset="-122"/>
                <a:cs typeface="Calibri" pitchFamily="34" charset="-120"/>
              </a:rPr>
              <a:t>49 labs and 7 vitals as time-weighted means; impossible vital readings removed</a:t>
            </a:r>
            <a:endParaRPr lang="en-US" sz="1200" dirty="0"/>
          </a:p>
        </p:txBody>
      </p:sp>
      <p:sp>
        <p:nvSpPr>
          <p:cNvPr id="13" name="Shape 11"/>
          <p:cNvSpPr/>
          <p:nvPr/>
        </p:nvSpPr>
        <p:spPr>
          <a:xfrm>
            <a:off x="457200" y="2057400"/>
            <a:ext cx="4023360" cy="914400"/>
          </a:xfrm>
          <a:prstGeom prst="roundRect">
            <a:avLst>
              <a:gd name="adj" fmla="val 8000"/>
            </a:avLst>
          </a:prstGeom>
          <a:solidFill>
            <a:srgbClr val="FFFFFF"/>
          </a:solidFill>
          <a:ln w="12700">
            <a:solidFill>
              <a:srgbClr val="E6DCCB"/>
            </a:solidFill>
            <a:prstDash val="solid"/>
          </a:ln>
        </p:spPr>
      </p:sp>
      <p:sp>
        <p:nvSpPr>
          <p:cNvPr id="14" name="Shape 12"/>
          <p:cNvSpPr/>
          <p:nvPr/>
        </p:nvSpPr>
        <p:spPr>
          <a:xfrm>
            <a:off x="594360" y="2286000"/>
            <a:ext cx="457200" cy="457200"/>
          </a:xfrm>
          <a:prstGeom prst="ellipse">
            <a:avLst/>
          </a:prstGeom>
          <a:solidFill>
            <a:srgbClr val="2A7F7F"/>
          </a:solidFill>
          <a:ln w="12700">
            <a:solidFill>
              <a:srgbClr val="2A7F7F"/>
            </a:solidFill>
            <a:prstDash val="solid"/>
          </a:ln>
        </p:spPr>
      </p:sp>
      <p:sp>
        <p:nvSpPr>
          <p:cNvPr id="15" name="Text 13"/>
          <p:cNvSpPr txBox="1"/>
          <p:nvPr/>
        </p:nvSpPr>
        <p:spPr>
          <a:xfrm>
            <a:off x="594360"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6" name="Text 14"/>
          <p:cNvSpPr txBox="1"/>
          <p:nvPr/>
        </p:nvSpPr>
        <p:spPr>
          <a:xfrm>
            <a:off x="1188720" y="2148840"/>
            <a:ext cx="3154680" cy="292608"/>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Clinical codes</a:t>
            </a:r>
            <a:endParaRPr lang="en-US" sz="1500" dirty="0"/>
          </a:p>
        </p:txBody>
      </p:sp>
      <p:sp>
        <p:nvSpPr>
          <p:cNvPr id="17" name="Text 15"/>
          <p:cNvSpPr txBox="1"/>
          <p:nvPr/>
        </p:nvSpPr>
        <p:spPr>
          <a:xfrm>
            <a:off x="1188720" y="2441448"/>
            <a:ext cx="3154680" cy="475488"/>
          </a:xfrm>
          <a:prstGeom prst="rect">
            <a:avLst/>
          </a:prstGeom>
          <a:noFill/>
          <a:ln/>
        </p:spPr>
        <p:txBody>
          <a:bodyPr wrap="square" lIns="0" tIns="0" rIns="0" bIns="0" rtlCol="0" anchor="t"/>
          <a:lstStyle/>
          <a:p>
            <a:pPr indent="0" marL="0">
              <a:buNone/>
            </a:pPr>
            <a:r>
              <a:rPr lang="en-US" sz="1200" dirty="0">
                <a:solidFill>
                  <a:srgbClr val="6B645C"/>
                </a:solidFill>
                <a:latin typeface="Calibri" pitchFamily="34" charset="0"/>
                <a:ea typeface="Calibri" pitchFamily="34" charset="-122"/>
                <a:cs typeface="Calibri" pitchFamily="34" charset="-120"/>
              </a:rPr>
              <a:t>Diagnoses (full history), medications, procedures as binary flags or weighted counts</a:t>
            </a:r>
            <a:endParaRPr lang="en-US" sz="1200" dirty="0"/>
          </a:p>
        </p:txBody>
      </p:sp>
      <p:sp>
        <p:nvSpPr>
          <p:cNvPr id="18" name="Shape 16"/>
          <p:cNvSpPr/>
          <p:nvPr/>
        </p:nvSpPr>
        <p:spPr>
          <a:xfrm>
            <a:off x="4663440" y="2057400"/>
            <a:ext cx="4023360" cy="914400"/>
          </a:xfrm>
          <a:prstGeom prst="roundRect">
            <a:avLst>
              <a:gd name="adj" fmla="val 8000"/>
            </a:avLst>
          </a:prstGeom>
          <a:solidFill>
            <a:srgbClr val="FFFFFF"/>
          </a:solidFill>
          <a:ln w="12700">
            <a:solidFill>
              <a:srgbClr val="E6DCCB"/>
            </a:solidFill>
            <a:prstDash val="solid"/>
          </a:ln>
        </p:spPr>
      </p:sp>
      <p:sp>
        <p:nvSpPr>
          <p:cNvPr id="19" name="Shape 17"/>
          <p:cNvSpPr/>
          <p:nvPr/>
        </p:nvSpPr>
        <p:spPr>
          <a:xfrm>
            <a:off x="4800600" y="2286000"/>
            <a:ext cx="457200" cy="457200"/>
          </a:xfrm>
          <a:prstGeom prst="ellipse">
            <a:avLst/>
          </a:prstGeom>
          <a:solidFill>
            <a:srgbClr val="B85042"/>
          </a:solidFill>
          <a:ln w="12700">
            <a:solidFill>
              <a:srgbClr val="B85042"/>
            </a:solidFill>
            <a:prstDash val="solid"/>
          </a:ln>
        </p:spPr>
      </p:sp>
      <p:sp>
        <p:nvSpPr>
          <p:cNvPr id="20" name="Text 18"/>
          <p:cNvSpPr txBox="1"/>
          <p:nvPr/>
        </p:nvSpPr>
        <p:spPr>
          <a:xfrm>
            <a:off x="4800600" y="2286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a:t>
            </a:r>
            <a:endParaRPr lang="en-US" sz="1600" dirty="0"/>
          </a:p>
        </p:txBody>
      </p:sp>
      <p:sp>
        <p:nvSpPr>
          <p:cNvPr id="21" name="Text 19"/>
          <p:cNvSpPr txBox="1"/>
          <p:nvPr/>
        </p:nvSpPr>
        <p:spPr>
          <a:xfrm>
            <a:off x="5394960" y="2148840"/>
            <a:ext cx="3154680" cy="292608"/>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Healthcare use</a:t>
            </a:r>
            <a:endParaRPr lang="en-US" sz="1500" dirty="0"/>
          </a:p>
        </p:txBody>
      </p:sp>
      <p:sp>
        <p:nvSpPr>
          <p:cNvPr id="22" name="Text 20"/>
          <p:cNvSpPr txBox="1"/>
          <p:nvPr/>
        </p:nvSpPr>
        <p:spPr>
          <a:xfrm>
            <a:off x="5394960" y="2441448"/>
            <a:ext cx="3154680" cy="475488"/>
          </a:xfrm>
          <a:prstGeom prst="rect">
            <a:avLst/>
          </a:prstGeom>
          <a:noFill/>
          <a:ln/>
        </p:spPr>
        <p:txBody>
          <a:bodyPr wrap="square" lIns="0" tIns="0" rIns="0" bIns="0" rtlCol="0" anchor="t"/>
          <a:lstStyle/>
          <a:p>
            <a:pPr indent="0" marL="0">
              <a:buNone/>
            </a:pPr>
            <a:r>
              <a:rPr lang="en-US" sz="1200" dirty="0">
                <a:solidFill>
                  <a:srgbClr val="6B645C"/>
                </a:solidFill>
                <a:latin typeface="Calibri" pitchFamily="34" charset="0"/>
                <a:ea typeface="Calibri" pitchFamily="34" charset="-122"/>
                <a:cs typeface="Calibri" pitchFamily="34" charset="-120"/>
              </a:rPr>
              <a:t>Emergency, inpatient, outpatient and telehealth visits in the last 180 days</a:t>
            </a:r>
            <a:endParaRPr lang="en-US" sz="1200" dirty="0"/>
          </a:p>
        </p:txBody>
      </p:sp>
      <p:sp>
        <p:nvSpPr>
          <p:cNvPr id="23" name="Text 21"/>
          <p:cNvSpPr txBox="1"/>
          <p:nvPr/>
        </p:nvSpPr>
        <p:spPr>
          <a:xfrm>
            <a:off x="457200" y="3154680"/>
            <a:ext cx="4572000" cy="12801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Only events on or before the first chemotherapy dose</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Recency weight exp(−t / 365), 180-day look-back</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Codes in &lt; 2.5% of patients dropped</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Labs: KNN-imputed or tertile-binned (two strategies)</a:t>
            </a:r>
            <a:endParaRPr lang="en-US" sz="1300" dirty="0"/>
          </a:p>
        </p:txBody>
      </p:sp>
      <p:sp>
        <p:nvSpPr>
          <p:cNvPr id="24" name="Shape 22"/>
          <p:cNvSpPr/>
          <p:nvPr/>
        </p:nvSpPr>
        <p:spPr>
          <a:xfrm>
            <a:off x="5303520" y="3291840"/>
            <a:ext cx="3383280" cy="777240"/>
          </a:xfrm>
          <a:prstGeom prst="rect">
            <a:avLst/>
          </a:prstGeom>
          <a:solidFill>
            <a:srgbClr val="B85042"/>
          </a:solidFill>
          <a:ln w="12700">
            <a:solidFill>
              <a:srgbClr val="B85042"/>
            </a:solidFill>
            <a:prstDash val="solid"/>
          </a:ln>
        </p:spPr>
      </p:sp>
      <p:sp>
        <p:nvSpPr>
          <p:cNvPr id="25" name="Text 23"/>
          <p:cNvSpPr txBox="1"/>
          <p:nvPr/>
        </p:nvSpPr>
        <p:spPr>
          <a:xfrm>
            <a:off x="5486400" y="3291840"/>
            <a:ext cx="301752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Fit preprocessing on training folds only → no data leakage</a:t>
            </a:r>
            <a:endParaRPr lang="en-US" sz="1500" dirty="0"/>
          </a:p>
        </p:txBody>
      </p:sp>
      <p:sp>
        <p:nvSpPr>
          <p:cNvPr id="26" name="Text 24"/>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src/prodecline/features/build.py, preprocess.py</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Machine Learning Models</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1325880"/>
                <a:gridCol w="2514600"/>
                <a:gridCol w="2148840"/>
                <a:gridCol w="2240280"/>
              </a:tblGrid>
              <a:tr h="28346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Core idea</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Strength</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Limitation</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LASSO (L1)</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Logistic regression, L1 penalty</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Sparse, interpretable</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Can select noise features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Ridge (L2)</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Logistic regression, L2 penalty</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Stable, fast</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Keeps every feature</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Elastic Net</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Mix of L1 and L2 penalties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Strong single model</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Slow solver</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Average of 500 decision trees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Non-linear, robust</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Weaker on sparse codes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Boosted trees fix earlier errors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Strong on tabular data</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Needs tuning</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MLP</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3 hidden layers, Adam optimiser</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Flexible</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Too many weights for 1k patients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SVM</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Maximum-margin boundary, 4 kernels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Good in high dimensions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Needs calibration for probability</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KNN</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Vote of the most similar patients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Simple, no training</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Weak in many dimensions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7F1E7"/>
                    </a:solidFill>
                  </a:tcPr>
                </a:tc>
              </a:tr>
              <a:tr h="283464">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Ensemble</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D6E9E7"/>
                    </a:solidFill>
                  </a:tcPr>
                </a:tc>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Soft vote of 6 tuned models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D6E9E7"/>
                    </a:solidFill>
                  </a:tcPr>
                </a:tc>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Best CV AUROC in all 4 settings</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D6E9E7"/>
                    </a:solidFill>
                  </a:tcPr>
                </a:tc>
                <a:tc>
                  <a:txBody>
                    <a:bodyPr/>
                    <a:lstStyle/>
                    <a:p>
                      <a:pPr indent="0" marL="0">
                        <a:buNone/>
                      </a:pPr>
                      <a:r>
                        <a:rPr lang="en-US" sz="1100" b="1" dirty="0">
                          <a:solidFill>
                            <a:srgbClr val="2B2B2B"/>
                          </a:solidFill>
                          <a:latin typeface="Calibri" pitchFamily="34" charset="0"/>
                          <a:ea typeface="Calibri" pitchFamily="34" charset="-122"/>
                          <a:cs typeface="Calibri" pitchFamily="34" charset="-120"/>
                        </a:rPr>
                        <a:t>Harder to interpret</a:t>
                      </a:r>
                      <a:endParaRPr lang="en-US" sz="110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D6E9E7"/>
                    </a:solidFill>
                  </a:tcPr>
                </a:tc>
              </a:tr>
            </a:tbl>
          </a:graphicData>
        </a:graphic>
      </p:graphicFrame>
      <p:sp>
        <p:nvSpPr>
          <p:cNvPr id="4" name="Text 1"/>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200" i="1" dirty="0">
                <a:solidFill>
                  <a:srgbClr val="6B645C"/>
                </a:solidFill>
                <a:latin typeface="Calibri" pitchFamily="34" charset="0"/>
                <a:ea typeface="Calibri" pitchFamily="34" charset="-122"/>
                <a:cs typeface="Calibri" pitchFamily="34" charset="-120"/>
              </a:rPr>
              <a:t>All eight families follow the paper; each is tuned by 10-fold grid search on AUROC. The ensemble averages the probabilities of the six best-suited members.</a:t>
            </a:r>
            <a:endParaRPr lang="en-US" sz="1200" dirty="0"/>
          </a:p>
        </p:txBody>
      </p:sp>
      <p:sp>
        <p:nvSpPr>
          <p:cNvPr id="5" name="Text 2"/>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src/prodecline/models/registry.py, training.py</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Metrics and Experimental Design</a:t>
            </a:r>
            <a:endParaRPr lang="en-US" sz="2800" dirty="0"/>
          </a:p>
        </p:txBody>
      </p:sp>
      <p:sp>
        <p:nvSpPr>
          <p:cNvPr id="3" name="Shape 1"/>
          <p:cNvSpPr/>
          <p:nvPr/>
        </p:nvSpPr>
        <p:spPr>
          <a:xfrm>
            <a:off x="457200" y="960120"/>
            <a:ext cx="2606040" cy="1417320"/>
          </a:xfrm>
          <a:prstGeom prst="roundRect">
            <a:avLst>
              <a:gd name="adj" fmla="val 5161"/>
            </a:avLst>
          </a:prstGeom>
          <a:solidFill>
            <a:srgbClr val="FFFFFF"/>
          </a:solidFill>
          <a:ln w="12700">
            <a:solidFill>
              <a:srgbClr val="E6DCCB"/>
            </a:solidFill>
            <a:prstDash val="solid"/>
          </a:ln>
        </p:spPr>
      </p:sp>
      <p:sp>
        <p:nvSpPr>
          <p:cNvPr id="4" name="Text 2"/>
          <p:cNvSpPr txBox="1"/>
          <p:nvPr/>
        </p:nvSpPr>
        <p:spPr>
          <a:xfrm>
            <a:off x="640080" y="1051560"/>
            <a:ext cx="2286000" cy="457200"/>
          </a:xfrm>
          <a:prstGeom prst="rect">
            <a:avLst/>
          </a:prstGeom>
          <a:noFill/>
          <a:ln/>
        </p:spPr>
        <p:txBody>
          <a:bodyPr wrap="square" lIns="0" tIns="0" rIns="0" bIns="0" rtlCol="0" anchor="ctr"/>
          <a:lstStyle/>
          <a:p>
            <a:pPr indent="0" marL="0">
              <a:buNone/>
            </a:pPr>
            <a:r>
              <a:rPr lang="en-US" sz="2200" b="1" dirty="0">
                <a:solidFill>
                  <a:srgbClr val="B85042"/>
                </a:solidFill>
                <a:latin typeface="Cambria" pitchFamily="34" charset="0"/>
                <a:ea typeface="Cambria" pitchFamily="34" charset="-122"/>
                <a:cs typeface="Cambria" pitchFamily="34" charset="-120"/>
              </a:rPr>
              <a:t>AUROC</a:t>
            </a:r>
            <a:endParaRPr lang="en-US" sz="2200" dirty="0"/>
          </a:p>
        </p:txBody>
      </p:sp>
      <p:sp>
        <p:nvSpPr>
          <p:cNvPr id="5" name="Text 3"/>
          <p:cNvSpPr txBox="1"/>
          <p:nvPr/>
        </p:nvSpPr>
        <p:spPr>
          <a:xfrm>
            <a:off x="640080" y="1536192"/>
            <a:ext cx="2286000" cy="777240"/>
          </a:xfrm>
          <a:prstGeom prst="rect">
            <a:avLst/>
          </a:prstGeom>
          <a:noFill/>
          <a:ln/>
        </p:spPr>
        <p:txBody>
          <a:bodyPr wrap="square" lIns="0" tIns="0" rIns="0" bIns="0" rtlCol="0" anchor="t"/>
          <a:lstStyle/>
          <a:p>
            <a:pPr indent="0" marL="0">
              <a:buNone/>
            </a:pPr>
            <a:r>
              <a:rPr lang="en-US" sz="1200" dirty="0">
                <a:solidFill>
                  <a:srgbClr val="6B645C"/>
                </a:solidFill>
                <a:latin typeface="Calibri" pitchFamily="34" charset="0"/>
                <a:ea typeface="Calibri" pitchFamily="34" charset="-122"/>
                <a:cs typeface="Calibri" pitchFamily="34" charset="-120"/>
              </a:rPr>
              <a:t>How well patients are ranked by risk; 0.5 = chance, 1 = perfect. Our main metric, as in the paper</a:t>
            </a:r>
            <a:endParaRPr lang="en-US" sz="1200" dirty="0"/>
          </a:p>
        </p:txBody>
      </p:sp>
      <p:sp>
        <p:nvSpPr>
          <p:cNvPr id="6" name="Shape 4"/>
          <p:cNvSpPr/>
          <p:nvPr/>
        </p:nvSpPr>
        <p:spPr>
          <a:xfrm>
            <a:off x="3246120" y="960120"/>
            <a:ext cx="2606040" cy="1417320"/>
          </a:xfrm>
          <a:prstGeom prst="roundRect">
            <a:avLst>
              <a:gd name="adj" fmla="val 5161"/>
            </a:avLst>
          </a:prstGeom>
          <a:solidFill>
            <a:srgbClr val="FFFFFF"/>
          </a:solidFill>
          <a:ln w="12700">
            <a:solidFill>
              <a:srgbClr val="E6DCCB"/>
            </a:solidFill>
            <a:prstDash val="solid"/>
          </a:ln>
        </p:spPr>
      </p:sp>
      <p:sp>
        <p:nvSpPr>
          <p:cNvPr id="7" name="Text 5"/>
          <p:cNvSpPr txBox="1"/>
          <p:nvPr/>
        </p:nvSpPr>
        <p:spPr>
          <a:xfrm>
            <a:off x="3429000" y="1051560"/>
            <a:ext cx="2286000" cy="457200"/>
          </a:xfrm>
          <a:prstGeom prst="rect">
            <a:avLst/>
          </a:prstGeom>
          <a:noFill/>
          <a:ln/>
        </p:spPr>
        <p:txBody>
          <a:bodyPr wrap="square" lIns="0" tIns="0" rIns="0" bIns="0" rtlCol="0" anchor="ctr"/>
          <a:lstStyle/>
          <a:p>
            <a:pPr indent="0" marL="0">
              <a:buNone/>
            </a:pPr>
            <a:r>
              <a:rPr lang="en-US" sz="2200" b="1" dirty="0">
                <a:solidFill>
                  <a:srgbClr val="2A7F7F"/>
                </a:solidFill>
                <a:latin typeface="Cambria" pitchFamily="34" charset="0"/>
                <a:ea typeface="Cambria" pitchFamily="34" charset="-122"/>
                <a:cs typeface="Cambria" pitchFamily="34" charset="-120"/>
              </a:rPr>
              <a:t>Accuracy</a:t>
            </a:r>
            <a:endParaRPr lang="en-US" sz="2200" dirty="0"/>
          </a:p>
        </p:txBody>
      </p:sp>
      <p:sp>
        <p:nvSpPr>
          <p:cNvPr id="8" name="Text 6"/>
          <p:cNvSpPr txBox="1"/>
          <p:nvPr/>
        </p:nvSpPr>
        <p:spPr>
          <a:xfrm>
            <a:off x="3429000" y="1536192"/>
            <a:ext cx="2286000" cy="777240"/>
          </a:xfrm>
          <a:prstGeom prst="rect">
            <a:avLst/>
          </a:prstGeom>
          <a:noFill/>
          <a:ln/>
        </p:spPr>
        <p:txBody>
          <a:bodyPr wrap="square" lIns="0" tIns="0" rIns="0" bIns="0" rtlCol="0" anchor="t"/>
          <a:lstStyle/>
          <a:p>
            <a:pPr indent="0" marL="0">
              <a:buNone/>
            </a:pPr>
            <a:r>
              <a:rPr lang="en-US" sz="1200" dirty="0">
                <a:solidFill>
                  <a:srgbClr val="6B645C"/>
                </a:solidFill>
                <a:latin typeface="Calibri" pitchFamily="34" charset="0"/>
                <a:ea typeface="Calibri" pitchFamily="34" charset="-122"/>
                <a:cs typeface="Calibri" pitchFamily="34" charset="-120"/>
              </a:rPr>
              <a:t>Share classified correctly. Misleading here: always saying 'no' already scores ~81%</a:t>
            </a:r>
            <a:endParaRPr lang="en-US" sz="1200" dirty="0"/>
          </a:p>
        </p:txBody>
      </p:sp>
      <p:sp>
        <p:nvSpPr>
          <p:cNvPr id="9" name="Shape 7"/>
          <p:cNvSpPr/>
          <p:nvPr/>
        </p:nvSpPr>
        <p:spPr>
          <a:xfrm>
            <a:off x="6035040" y="960120"/>
            <a:ext cx="2606040" cy="1417320"/>
          </a:xfrm>
          <a:prstGeom prst="roundRect">
            <a:avLst>
              <a:gd name="adj" fmla="val 5161"/>
            </a:avLst>
          </a:prstGeom>
          <a:solidFill>
            <a:srgbClr val="FFFFFF"/>
          </a:solidFill>
          <a:ln w="12700">
            <a:solidFill>
              <a:srgbClr val="E6DCCB"/>
            </a:solidFill>
            <a:prstDash val="solid"/>
          </a:ln>
        </p:spPr>
      </p:sp>
      <p:sp>
        <p:nvSpPr>
          <p:cNvPr id="10" name="Text 8"/>
          <p:cNvSpPr txBox="1"/>
          <p:nvPr/>
        </p:nvSpPr>
        <p:spPr>
          <a:xfrm>
            <a:off x="6217920" y="1051560"/>
            <a:ext cx="2286000" cy="457200"/>
          </a:xfrm>
          <a:prstGeom prst="rect">
            <a:avLst/>
          </a:prstGeom>
          <a:noFill/>
          <a:ln/>
        </p:spPr>
        <p:txBody>
          <a:bodyPr wrap="square" lIns="0" tIns="0" rIns="0" bIns="0" rtlCol="0" anchor="ctr"/>
          <a:lstStyle/>
          <a:p>
            <a:pPr indent="0" marL="0">
              <a:buNone/>
            </a:pPr>
            <a:r>
              <a:rPr lang="en-US" sz="2200" b="1" dirty="0">
                <a:solidFill>
                  <a:srgbClr val="B85042"/>
                </a:solidFill>
                <a:latin typeface="Cambria" pitchFamily="34" charset="0"/>
                <a:ea typeface="Cambria" pitchFamily="34" charset="-122"/>
                <a:cs typeface="Cambria" pitchFamily="34" charset="-120"/>
              </a:rPr>
              <a:t>Recall / F1</a:t>
            </a:r>
            <a:endParaRPr lang="en-US" sz="2200" dirty="0"/>
          </a:p>
        </p:txBody>
      </p:sp>
      <p:sp>
        <p:nvSpPr>
          <p:cNvPr id="11" name="Text 9"/>
          <p:cNvSpPr txBox="1"/>
          <p:nvPr/>
        </p:nvSpPr>
        <p:spPr>
          <a:xfrm>
            <a:off x="6217920" y="1536192"/>
            <a:ext cx="2286000" cy="777240"/>
          </a:xfrm>
          <a:prstGeom prst="rect">
            <a:avLst/>
          </a:prstGeom>
          <a:noFill/>
          <a:ln/>
        </p:spPr>
        <p:txBody>
          <a:bodyPr wrap="square" lIns="0" tIns="0" rIns="0" bIns="0" rtlCol="0" anchor="t"/>
          <a:lstStyle/>
          <a:p>
            <a:pPr indent="0" marL="0">
              <a:buNone/>
            </a:pPr>
            <a:r>
              <a:rPr lang="en-US" sz="1200" dirty="0">
                <a:solidFill>
                  <a:srgbClr val="6B645C"/>
                </a:solidFill>
                <a:latin typeface="Calibri" pitchFamily="34" charset="0"/>
                <a:ea typeface="Calibri" pitchFamily="34" charset="-122"/>
                <a:cs typeface="Calibri" pitchFamily="34" charset="-120"/>
              </a:rPr>
              <a:t>Share of real decliners we catch, and its balance with precision</a:t>
            </a:r>
            <a:endParaRPr lang="en-US" sz="1200" dirty="0"/>
          </a:p>
        </p:txBody>
      </p:sp>
      <p:sp>
        <p:nvSpPr>
          <p:cNvPr id="12" name="Text 10"/>
          <p:cNvSpPr txBox="1"/>
          <p:nvPr/>
        </p:nvSpPr>
        <p:spPr>
          <a:xfrm>
            <a:off x="457200" y="2560320"/>
            <a:ext cx="3657600" cy="32004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Experiments</a:t>
            </a:r>
            <a:endParaRPr lang="en-US" sz="1500" dirty="0"/>
          </a:p>
        </p:txBody>
      </p:sp>
      <p:sp>
        <p:nvSpPr>
          <p:cNvPr id="13" name="Shape 11"/>
          <p:cNvSpPr/>
          <p:nvPr/>
        </p:nvSpPr>
        <p:spPr>
          <a:xfrm>
            <a:off x="457200" y="2926080"/>
            <a:ext cx="1920240" cy="868680"/>
          </a:xfrm>
          <a:prstGeom prst="roundRect">
            <a:avLst>
              <a:gd name="adj" fmla="val 8421"/>
            </a:avLst>
          </a:prstGeom>
          <a:solidFill>
            <a:srgbClr val="F1DDD3"/>
          </a:solidFill>
          <a:ln w="9525">
            <a:solidFill>
              <a:srgbClr val="E6DCCB"/>
            </a:solidFill>
            <a:prstDash val="solid"/>
          </a:ln>
        </p:spPr>
      </p:sp>
      <p:sp>
        <p:nvSpPr>
          <p:cNvPr id="14" name="Shape 12"/>
          <p:cNvSpPr/>
          <p:nvPr/>
        </p:nvSpPr>
        <p:spPr>
          <a:xfrm>
            <a:off x="566928" y="3035808"/>
            <a:ext cx="310896" cy="310896"/>
          </a:xfrm>
          <a:prstGeom prst="ellipse">
            <a:avLst/>
          </a:prstGeom>
          <a:solidFill>
            <a:srgbClr val="B85042"/>
          </a:solidFill>
          <a:ln w="12700">
            <a:solidFill>
              <a:srgbClr val="B85042"/>
            </a:solidFill>
            <a:prstDash val="solid"/>
          </a:ln>
        </p:spPr>
      </p:sp>
      <p:sp>
        <p:nvSpPr>
          <p:cNvPr id="15" name="Text 13"/>
          <p:cNvSpPr txBox="1"/>
          <p:nvPr/>
        </p:nvSpPr>
        <p:spPr>
          <a:xfrm>
            <a:off x="566928" y="30358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6" name="Text 14"/>
          <p:cNvSpPr txBox="1"/>
          <p:nvPr/>
        </p:nvSpPr>
        <p:spPr>
          <a:xfrm>
            <a:off x="960120" y="3017520"/>
            <a:ext cx="1371600" cy="365760"/>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Model comparison</a:t>
            </a:r>
            <a:endParaRPr lang="en-US" sz="1250" dirty="0"/>
          </a:p>
        </p:txBody>
      </p:sp>
      <p:sp>
        <p:nvSpPr>
          <p:cNvPr id="17" name="Text 15"/>
          <p:cNvSpPr txBox="1"/>
          <p:nvPr/>
        </p:nvSpPr>
        <p:spPr>
          <a:xfrm>
            <a:off x="594360" y="3401568"/>
            <a:ext cx="1691640" cy="320040"/>
          </a:xfrm>
          <a:prstGeom prst="rect">
            <a:avLst/>
          </a:prstGeom>
          <a:noFill/>
          <a:ln/>
        </p:spPr>
        <p:txBody>
          <a:bodyPr wrap="square" lIns="0" tIns="0" rIns="0" bIns="0" rtlCol="0" anchor="ctr"/>
          <a:lstStyle/>
          <a:p>
            <a:pPr indent="0" marL="0">
              <a:buNone/>
            </a:pPr>
            <a:r>
              <a:rPr lang="en-US" sz="1100" dirty="0">
                <a:solidFill>
                  <a:srgbClr val="6B645C"/>
                </a:solidFill>
                <a:latin typeface="Calibri" pitchFamily="34" charset="0"/>
                <a:ea typeface="Calibri" pitchFamily="34" charset="-122"/>
                <a:cs typeface="Calibri" pitchFamily="34" charset="-120"/>
              </a:rPr>
              <a:t>2 labels × 2 lab strategies</a:t>
            </a:r>
            <a:endParaRPr lang="en-US" sz="1100" dirty="0"/>
          </a:p>
        </p:txBody>
      </p:sp>
      <p:sp>
        <p:nvSpPr>
          <p:cNvPr id="18" name="Shape 16"/>
          <p:cNvSpPr/>
          <p:nvPr/>
        </p:nvSpPr>
        <p:spPr>
          <a:xfrm>
            <a:off x="2542032" y="2926080"/>
            <a:ext cx="1920240" cy="868680"/>
          </a:xfrm>
          <a:prstGeom prst="roundRect">
            <a:avLst>
              <a:gd name="adj" fmla="val 8421"/>
            </a:avLst>
          </a:prstGeom>
          <a:solidFill>
            <a:srgbClr val="D6E9E7"/>
          </a:solidFill>
          <a:ln w="9525">
            <a:solidFill>
              <a:srgbClr val="E6DCCB"/>
            </a:solidFill>
            <a:prstDash val="solid"/>
          </a:ln>
        </p:spPr>
      </p:sp>
      <p:sp>
        <p:nvSpPr>
          <p:cNvPr id="19" name="Shape 17"/>
          <p:cNvSpPr/>
          <p:nvPr/>
        </p:nvSpPr>
        <p:spPr>
          <a:xfrm>
            <a:off x="2651760" y="3035808"/>
            <a:ext cx="310896" cy="310896"/>
          </a:xfrm>
          <a:prstGeom prst="ellipse">
            <a:avLst/>
          </a:prstGeom>
          <a:solidFill>
            <a:srgbClr val="2A7F7F"/>
          </a:solidFill>
          <a:ln w="12700">
            <a:solidFill>
              <a:srgbClr val="2A7F7F"/>
            </a:solidFill>
            <a:prstDash val="solid"/>
          </a:ln>
        </p:spPr>
      </p:sp>
      <p:sp>
        <p:nvSpPr>
          <p:cNvPr id="20" name="Text 18"/>
          <p:cNvSpPr txBox="1"/>
          <p:nvPr/>
        </p:nvSpPr>
        <p:spPr>
          <a:xfrm>
            <a:off x="2651760" y="30358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txBox="1"/>
          <p:nvPr/>
        </p:nvSpPr>
        <p:spPr>
          <a:xfrm>
            <a:off x="3044952" y="3017520"/>
            <a:ext cx="1371600" cy="365760"/>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Feature-group ablation</a:t>
            </a:r>
            <a:endParaRPr lang="en-US" sz="1250" dirty="0"/>
          </a:p>
        </p:txBody>
      </p:sp>
      <p:sp>
        <p:nvSpPr>
          <p:cNvPr id="22" name="Text 20"/>
          <p:cNvSpPr txBox="1"/>
          <p:nvPr/>
        </p:nvSpPr>
        <p:spPr>
          <a:xfrm>
            <a:off x="2679192" y="3401568"/>
            <a:ext cx="1691640" cy="320040"/>
          </a:xfrm>
          <a:prstGeom prst="rect">
            <a:avLst/>
          </a:prstGeom>
          <a:noFill/>
          <a:ln/>
        </p:spPr>
        <p:txBody>
          <a:bodyPr wrap="square" lIns="0" tIns="0" rIns="0" bIns="0" rtlCol="0" anchor="ctr"/>
          <a:lstStyle/>
          <a:p>
            <a:pPr indent="0" marL="0">
              <a:buNone/>
            </a:pPr>
            <a:r>
              <a:rPr lang="en-US" sz="1100" dirty="0">
                <a:solidFill>
                  <a:srgbClr val="6B645C"/>
                </a:solidFill>
                <a:latin typeface="Calibri" pitchFamily="34" charset="0"/>
                <a:ea typeface="Calibri" pitchFamily="34" charset="-122"/>
                <a:cs typeface="Calibri" pitchFamily="34" charset="-120"/>
              </a:rPr>
              <a:t>refit without each group</a:t>
            </a:r>
            <a:endParaRPr lang="en-US" sz="1100" dirty="0"/>
          </a:p>
        </p:txBody>
      </p:sp>
      <p:sp>
        <p:nvSpPr>
          <p:cNvPr id="23" name="Shape 21"/>
          <p:cNvSpPr/>
          <p:nvPr/>
        </p:nvSpPr>
        <p:spPr>
          <a:xfrm>
            <a:off x="4626864" y="2926080"/>
            <a:ext cx="1920240" cy="868680"/>
          </a:xfrm>
          <a:prstGeom prst="roundRect">
            <a:avLst>
              <a:gd name="adj" fmla="val 8421"/>
            </a:avLst>
          </a:prstGeom>
          <a:solidFill>
            <a:srgbClr val="F1DDD3"/>
          </a:solidFill>
          <a:ln w="9525">
            <a:solidFill>
              <a:srgbClr val="E6DCCB"/>
            </a:solidFill>
            <a:prstDash val="solid"/>
          </a:ln>
        </p:spPr>
      </p:sp>
      <p:sp>
        <p:nvSpPr>
          <p:cNvPr id="24" name="Shape 22"/>
          <p:cNvSpPr/>
          <p:nvPr/>
        </p:nvSpPr>
        <p:spPr>
          <a:xfrm>
            <a:off x="4736592" y="3035808"/>
            <a:ext cx="310896" cy="310896"/>
          </a:xfrm>
          <a:prstGeom prst="ellipse">
            <a:avLst/>
          </a:prstGeom>
          <a:solidFill>
            <a:srgbClr val="B85042"/>
          </a:solidFill>
          <a:ln w="12700">
            <a:solidFill>
              <a:srgbClr val="B85042"/>
            </a:solidFill>
            <a:prstDash val="solid"/>
          </a:ln>
        </p:spPr>
      </p:sp>
      <p:sp>
        <p:nvSpPr>
          <p:cNvPr id="25" name="Text 23"/>
          <p:cNvSpPr txBox="1"/>
          <p:nvPr/>
        </p:nvSpPr>
        <p:spPr>
          <a:xfrm>
            <a:off x="4736592" y="30358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txBox="1"/>
          <p:nvPr/>
        </p:nvSpPr>
        <p:spPr>
          <a:xfrm>
            <a:off x="5129784" y="3017520"/>
            <a:ext cx="1371600" cy="365760"/>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Accuracy &amp; cut-off</a:t>
            </a:r>
            <a:endParaRPr lang="en-US" sz="1250" dirty="0"/>
          </a:p>
        </p:txBody>
      </p:sp>
      <p:sp>
        <p:nvSpPr>
          <p:cNvPr id="27" name="Text 25"/>
          <p:cNvSpPr txBox="1"/>
          <p:nvPr/>
        </p:nvSpPr>
        <p:spPr>
          <a:xfrm>
            <a:off x="4764024" y="3401568"/>
            <a:ext cx="1691640" cy="320040"/>
          </a:xfrm>
          <a:prstGeom prst="rect">
            <a:avLst/>
          </a:prstGeom>
          <a:noFill/>
          <a:ln/>
        </p:spPr>
        <p:txBody>
          <a:bodyPr wrap="square" lIns="0" tIns="0" rIns="0" bIns="0" rtlCol="0" anchor="ctr"/>
          <a:lstStyle/>
          <a:p>
            <a:pPr indent="0" marL="0">
              <a:buNone/>
            </a:pPr>
            <a:r>
              <a:rPr lang="en-US" sz="1100" dirty="0">
                <a:solidFill>
                  <a:srgbClr val="6B645C"/>
                </a:solidFill>
                <a:latin typeface="Calibri" pitchFamily="34" charset="0"/>
                <a:ea typeface="Calibri" pitchFamily="34" charset="-122"/>
                <a:cs typeface="Calibri" pitchFamily="34" charset="-120"/>
              </a:rPr>
              <a:t>decision cut-off tuned on train</a:t>
            </a:r>
            <a:endParaRPr lang="en-US" sz="1100" dirty="0"/>
          </a:p>
        </p:txBody>
      </p:sp>
      <p:sp>
        <p:nvSpPr>
          <p:cNvPr id="28" name="Shape 26"/>
          <p:cNvSpPr/>
          <p:nvPr/>
        </p:nvSpPr>
        <p:spPr>
          <a:xfrm>
            <a:off x="6711696" y="2926080"/>
            <a:ext cx="1920240" cy="868680"/>
          </a:xfrm>
          <a:prstGeom prst="roundRect">
            <a:avLst>
              <a:gd name="adj" fmla="val 8421"/>
            </a:avLst>
          </a:prstGeom>
          <a:solidFill>
            <a:srgbClr val="D6E9E7"/>
          </a:solidFill>
          <a:ln w="9525">
            <a:solidFill>
              <a:srgbClr val="E6DCCB"/>
            </a:solidFill>
            <a:prstDash val="solid"/>
          </a:ln>
        </p:spPr>
      </p:sp>
      <p:sp>
        <p:nvSpPr>
          <p:cNvPr id="29" name="Shape 27"/>
          <p:cNvSpPr/>
          <p:nvPr/>
        </p:nvSpPr>
        <p:spPr>
          <a:xfrm>
            <a:off x="6821424" y="3035808"/>
            <a:ext cx="310896" cy="310896"/>
          </a:xfrm>
          <a:prstGeom prst="ellipse">
            <a:avLst/>
          </a:prstGeom>
          <a:solidFill>
            <a:srgbClr val="2A7F7F"/>
          </a:solidFill>
          <a:ln w="12700">
            <a:solidFill>
              <a:srgbClr val="2A7F7F"/>
            </a:solidFill>
            <a:prstDash val="solid"/>
          </a:ln>
        </p:spPr>
      </p:sp>
      <p:sp>
        <p:nvSpPr>
          <p:cNvPr id="30" name="Text 28"/>
          <p:cNvSpPr txBox="1"/>
          <p:nvPr/>
        </p:nvSpPr>
        <p:spPr>
          <a:xfrm>
            <a:off x="6821424" y="30358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txBox="1"/>
          <p:nvPr/>
        </p:nvSpPr>
        <p:spPr>
          <a:xfrm>
            <a:off x="7214616" y="3017520"/>
            <a:ext cx="1371600" cy="365760"/>
          </a:xfrm>
          <a:prstGeom prst="rect">
            <a:avLst/>
          </a:prstGeom>
          <a:noFill/>
          <a:ln/>
        </p:spPr>
        <p:txBody>
          <a:bodyPr wrap="square" lIns="0" tIns="0" rIns="0" bIns="0" rtlCol="0" anchor="ctr"/>
          <a:lstStyle/>
          <a:p>
            <a:pPr indent="0" marL="0">
              <a:buNone/>
            </a:pPr>
            <a:r>
              <a:rPr lang="en-US" sz="1250" b="1" dirty="0">
                <a:solidFill>
                  <a:srgbClr val="2B2B2B"/>
                </a:solidFill>
                <a:latin typeface="Calibri" pitchFamily="34" charset="0"/>
                <a:ea typeface="Calibri" pitchFamily="34" charset="-122"/>
                <a:cs typeface="Calibri" pitchFamily="34" charset="-120"/>
              </a:rPr>
              <a:t>Live demo</a:t>
            </a:r>
            <a:endParaRPr lang="en-US" sz="1250" dirty="0"/>
          </a:p>
        </p:txBody>
      </p:sp>
      <p:sp>
        <p:nvSpPr>
          <p:cNvPr id="32" name="Text 30"/>
          <p:cNvSpPr txBox="1"/>
          <p:nvPr/>
        </p:nvSpPr>
        <p:spPr>
          <a:xfrm>
            <a:off x="6848856" y="3401568"/>
            <a:ext cx="1691640" cy="320040"/>
          </a:xfrm>
          <a:prstGeom prst="rect">
            <a:avLst/>
          </a:prstGeom>
          <a:noFill/>
          <a:ln/>
        </p:spPr>
        <p:txBody>
          <a:bodyPr wrap="square" lIns="0" tIns="0" rIns="0" bIns="0" rtlCol="0" anchor="ctr"/>
          <a:lstStyle/>
          <a:p>
            <a:pPr indent="0" marL="0">
              <a:buNone/>
            </a:pPr>
            <a:r>
              <a:rPr lang="en-US" sz="1100" dirty="0">
                <a:solidFill>
                  <a:srgbClr val="6B645C"/>
                </a:solidFill>
                <a:latin typeface="Calibri" pitchFamily="34" charset="0"/>
                <a:ea typeface="Calibri" pitchFamily="34" charset="-122"/>
                <a:cs typeface="Calibri" pitchFamily="34" charset="-120"/>
              </a:rPr>
              <a:t>one command, ~40 s</a:t>
            </a:r>
            <a:endParaRPr lang="en-US" sz="1100" dirty="0"/>
          </a:p>
        </p:txBody>
      </p:sp>
      <p:sp>
        <p:nvSpPr>
          <p:cNvPr id="33" name="Text 31"/>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200" i="1" dirty="0">
                <a:solidFill>
                  <a:srgbClr val="6B645C"/>
                </a:solidFill>
                <a:latin typeface="Calibri" pitchFamily="34" charset="0"/>
                <a:ea typeface="Calibri" pitchFamily="34" charset="-122"/>
                <a:cs typeface="Calibri" pitchFamily="34" charset="-120"/>
              </a:rPr>
              <a:t>The test set (251 patients) is used once; 95% confidence intervals come from 1,000 bootstrap resamples.</a:t>
            </a:r>
            <a:endParaRPr lang="en-US" sz="1200" dirty="0"/>
          </a:p>
        </p:txBody>
      </p:sp>
      <p:sp>
        <p:nvSpPr>
          <p:cNvPr id="34" name="Text 32"/>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src/prodecline/evaluation/metrics.py, improve.py</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Model Comparison Results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5577840" cy="914400"/>
        </p:xfrm>
        <a:graphic>
          <a:graphicData uri="http://schemas.openxmlformats.org/drawingml/2006/table">
            <a:tbl>
              <a:tblPr/>
              <a:tblGrid>
                <a:gridCol w="1371600"/>
                <a:gridCol w="1051560"/>
                <a:gridCol w="1051560"/>
                <a:gridCol w="1051560"/>
                <a:gridCol w="105156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B2B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Drop · KNN labs</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B2B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Drop · binned</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B2B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Threshold · KNN</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B2B2B"/>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Threshold · binned</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B2B2B"/>
                    </a:solidFill>
                  </a:tcPr>
                </a:tc>
              </a:tr>
              <a:tr h="292608">
                <a:tc>
                  <a:txBody>
                    <a:bodyPr/>
                    <a:lstStyle/>
                    <a:p>
                      <a:pPr indent="0" marL="0">
                        <a:buNone/>
                      </a:pPr>
                      <a:r>
                        <a:rPr lang="en-US" sz="1150" dirty="0">
                          <a:solidFill>
                            <a:srgbClr val="2B2B2B"/>
                          </a:solidFill>
                          <a:latin typeface="Calibri" pitchFamily="34" charset="0"/>
                          <a:ea typeface="Calibri" pitchFamily="34" charset="-122"/>
                          <a:cs typeface="Calibri" pitchFamily="34" charset="-120"/>
                        </a:rPr>
                        <a:t>LASSO</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0.699</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8AB5B2"/>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0.730</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78ABA8"/>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0.851</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48484"/>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0.840</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A8887"/>
                    </a:solidFill>
                  </a:tcPr>
                </a:tc>
              </a:tr>
              <a:tr h="292608">
                <a:tc>
                  <a:txBody>
                    <a:bodyPr/>
                    <a:lstStyle/>
                    <a:p>
                      <a:pPr indent="0" marL="0">
                        <a:buNone/>
                      </a:pPr>
                      <a:r>
                        <a:rPr lang="en-US" sz="1150" dirty="0">
                          <a:solidFill>
                            <a:srgbClr val="2B2B2B"/>
                          </a:solidFill>
                          <a:latin typeface="Calibri" pitchFamily="34" charset="0"/>
                          <a:ea typeface="Calibri" pitchFamily="34" charset="-122"/>
                          <a:cs typeface="Calibri" pitchFamily="34" charset="-120"/>
                        </a:rPr>
                        <a:t>Ridge</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0.638</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ADC9C4"/>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0.676</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97BCB9"/>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0.841</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98887"/>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0.843</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88787"/>
                    </a:solidFill>
                  </a:tcPr>
                </a:tc>
              </a:tr>
              <a:tr h="292608">
                <a:tc>
                  <a:txBody>
                    <a:bodyPr/>
                    <a:lstStyle/>
                    <a:p>
                      <a:pPr indent="0" marL="0">
                        <a:buNone/>
                      </a:pPr>
                      <a:r>
                        <a:rPr lang="en-US" sz="1150" dirty="0">
                          <a:solidFill>
                            <a:srgbClr val="2B2B2B"/>
                          </a:solidFill>
                          <a:latin typeface="Calibri" pitchFamily="34" charset="0"/>
                          <a:ea typeface="Calibri" pitchFamily="34" charset="-122"/>
                          <a:cs typeface="Calibri" pitchFamily="34" charset="-120"/>
                        </a:rPr>
                        <a:t>Elastic Net</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0.717</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80AFAC"/>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0.714</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81B0AD"/>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0.866</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B8080"/>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0.868</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r>
              <a:tr h="292608">
                <a:tc>
                  <a:txBody>
                    <a:bodyPr/>
                    <a:lstStyle/>
                    <a:p>
                      <a:pPr indent="0" marL="0">
                        <a:buNone/>
                      </a:pPr>
                      <a:r>
                        <a:rPr lang="en-US" sz="1150" dirty="0">
                          <a:solidFill>
                            <a:srgbClr val="2B2B2B"/>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0.634</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AFCAC5"/>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0.653</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A4C4C0"/>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0.851</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48484"/>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0.849</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58585"/>
                    </a:solidFill>
                  </a:tcPr>
                </a:tc>
              </a:tr>
              <a:tr h="292608">
                <a:tc>
                  <a:txBody>
                    <a:bodyPr/>
                    <a:lstStyle/>
                    <a:p>
                      <a:pPr indent="0" marL="0">
                        <a:buNone/>
                      </a:pPr>
                      <a:r>
                        <a:rPr lang="en-US" sz="1150" dirty="0">
                          <a:solidFill>
                            <a:srgbClr val="2B2B2B"/>
                          </a:solidFill>
                          <a:latin typeface="Calibri" pitchFamily="34" charset="0"/>
                          <a:ea typeface="Calibri" pitchFamily="34" charset="-122"/>
                          <a:cs typeface="Calibri" pitchFamily="34" charset="-120"/>
                        </a:rPr>
                        <a:t>LightGBM</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0.688</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90B9B5"/>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0.709</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84B2AF"/>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0.854</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28383"/>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0.840</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A8887"/>
                    </a:solidFill>
                  </a:tcPr>
                </a:tc>
              </a:tr>
              <a:tr h="292608">
                <a:tc>
                  <a:txBody>
                    <a:bodyPr/>
                    <a:lstStyle/>
                    <a:p>
                      <a:pPr indent="0" marL="0">
                        <a:buNone/>
                      </a:pPr>
                      <a:r>
                        <a:rPr lang="en-US" sz="1150" dirty="0">
                          <a:solidFill>
                            <a:srgbClr val="2B2B2B"/>
                          </a:solidFill>
                          <a:latin typeface="Calibri" pitchFamily="34" charset="0"/>
                          <a:ea typeface="Calibri" pitchFamily="34" charset="-122"/>
                          <a:cs typeface="Calibri" pitchFamily="34" charset="-120"/>
                        </a:rPr>
                        <a:t>MLP</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0.532</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E9EBE4"/>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0.512</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4F1EA"/>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0.810</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4B9290"/>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0.801</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509493"/>
                    </a:solidFill>
                  </a:tcPr>
                </a:tc>
              </a:tr>
              <a:tr h="292608">
                <a:tc>
                  <a:txBody>
                    <a:bodyPr/>
                    <a:lstStyle/>
                    <a:p>
                      <a:pPr indent="0" marL="0">
                        <a:buNone/>
                      </a:pPr>
                      <a:r>
                        <a:rPr lang="en-US" sz="1150" dirty="0">
                          <a:solidFill>
                            <a:srgbClr val="2B2B2B"/>
                          </a:solidFill>
                          <a:latin typeface="Calibri" pitchFamily="34" charset="0"/>
                          <a:ea typeface="Calibri" pitchFamily="34" charset="-122"/>
                          <a:cs typeface="Calibri" pitchFamily="34" charset="-120"/>
                        </a:rPr>
                        <a:t>SVM</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0.619</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B7CFCA"/>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0.643</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AAC7C3"/>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0.833</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3E8A8A"/>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0.806</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4D9392"/>
                    </a:solidFill>
                  </a:tcPr>
                </a:tc>
              </a:tr>
              <a:tr h="292608">
                <a:tc>
                  <a:txBody>
                    <a:bodyPr/>
                    <a:lstStyle/>
                    <a:p>
                      <a:pPr indent="0" marL="0">
                        <a:buNone/>
                      </a:pPr>
                      <a:r>
                        <a:rPr lang="en-US" sz="1150" dirty="0">
                          <a:solidFill>
                            <a:srgbClr val="2B2B2B"/>
                          </a:solidFill>
                          <a:latin typeface="Calibri" pitchFamily="34" charset="0"/>
                          <a:ea typeface="Calibri" pitchFamily="34" charset="-122"/>
                          <a:cs typeface="Calibri" pitchFamily="34" charset="-120"/>
                        </a:rPr>
                        <a:t>KNN</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0.560</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D9E2DC"/>
                    </a:solidFill>
                  </a:tcPr>
                </a:tc>
                <a:tc>
                  <a:txBody>
                    <a:bodyPr/>
                    <a:lstStyle/>
                    <a:p>
                      <a:pPr algn="ctr" indent="0" marL="0">
                        <a:buNone/>
                      </a:pPr>
                      <a:r>
                        <a:rPr lang="en-US" sz="1150" dirty="0">
                          <a:solidFill>
                            <a:srgbClr val="2B2B2B"/>
                          </a:solidFill>
                          <a:latin typeface="Calibri" pitchFamily="34" charset="0"/>
                          <a:ea typeface="Calibri" pitchFamily="34" charset="-122"/>
                          <a:cs typeface="Calibri" pitchFamily="34" charset="-120"/>
                        </a:rPr>
                        <a:t>0.553</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DDE4DE"/>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0.809</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4B9291"/>
                    </a:solidFill>
                  </a:tcPr>
                </a:tc>
                <a:tc>
                  <a:txBody>
                    <a:bodyPr/>
                    <a:lstStyle/>
                    <a:p>
                      <a:pPr algn="ctr" indent="0" marL="0">
                        <a:buNone/>
                      </a:pPr>
                      <a:r>
                        <a:rPr lang="en-US" sz="1150" dirty="0">
                          <a:solidFill>
                            <a:srgbClr val="FFFFFF"/>
                          </a:solidFill>
                          <a:latin typeface="Calibri" pitchFamily="34" charset="0"/>
                          <a:ea typeface="Calibri" pitchFamily="34" charset="-122"/>
                          <a:cs typeface="Calibri" pitchFamily="34" charset="-120"/>
                        </a:rPr>
                        <a:t>0.772</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609E9C"/>
                    </a:solidFill>
                  </a:tcPr>
                </a:tc>
              </a:tr>
              <a:tr h="292608">
                <a:tc>
                  <a:txBody>
                    <a:bodyPr/>
                    <a:lstStyle/>
                    <a:p>
                      <a:pPr indent="0" marL="0">
                        <a:buNone/>
                      </a:pPr>
                      <a:r>
                        <a:rPr lang="en-US" sz="1150" b="1" dirty="0">
                          <a:solidFill>
                            <a:srgbClr val="2B2B2B"/>
                          </a:solidFill>
                          <a:latin typeface="Calibri" pitchFamily="34" charset="0"/>
                          <a:ea typeface="Calibri" pitchFamily="34" charset="-122"/>
                          <a:cs typeface="Calibri" pitchFamily="34" charset="-120"/>
                        </a:rPr>
                        <a:t>Ensemble</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D6E9E7"/>
                    </a:solidFill>
                  </a:tcPr>
                </a:tc>
                <a:tc>
                  <a:txBody>
                    <a:bodyPr/>
                    <a:lstStyle/>
                    <a:p>
                      <a:pPr algn="ctr" indent="0" marL="0">
                        <a:buNone/>
                      </a:pPr>
                      <a:r>
                        <a:rPr lang="en-US" sz="1150" b="1" dirty="0">
                          <a:solidFill>
                            <a:srgbClr val="2B2B2B"/>
                          </a:solidFill>
                          <a:latin typeface="Calibri" pitchFamily="34" charset="0"/>
                          <a:ea typeface="Calibri" pitchFamily="34" charset="-122"/>
                          <a:cs typeface="Calibri" pitchFamily="34" charset="-120"/>
                        </a:rPr>
                        <a:t>0.692</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8EB7B4"/>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0.716</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80B0A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0.868</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A7F7F"/>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0.863</a:t>
                      </a:r>
                      <a:endParaRPr lang="en-US" sz="1150" dirty="0">
                        <a:latin typeface="Calibri" charset="0"/>
                        <a:ea typeface="Calibri" charset="0"/>
                        <a:cs typeface="Calibri" charset="0"/>
                      </a:endParaRPr>
                    </a:p>
                  </a:txBody>
                  <a:tcPr marL="73152" marR="73152" marT="27432" marB="27432" anchor="ctr">
                    <a:lnL w="9525" cap="flat" cmpd="sng" algn="ctr">
                      <a:solidFill>
                        <a:srgbClr val="E6DCCB"/>
                      </a:solidFill>
                      <a:prstDash val="solid"/>
                      <a:round/>
                      <a:headEnd type="none" w="med" len="med"/>
                      <a:tailEnd type="none" w="med" len="med"/>
                    </a:lnL>
                    <a:lnR w="9525" cap="flat" cmpd="sng" algn="ctr">
                      <a:solidFill>
                        <a:srgbClr val="E6DCCB"/>
                      </a:solidFill>
                      <a:prstDash val="solid"/>
                      <a:round/>
                      <a:headEnd type="none" w="med" len="med"/>
                      <a:tailEnd type="none" w="med" len="med"/>
                    </a:lnR>
                    <a:lnT w="9525" cap="flat" cmpd="sng" algn="ctr">
                      <a:solidFill>
                        <a:srgbClr val="E6DCCB"/>
                      </a:solidFill>
                      <a:prstDash val="solid"/>
                      <a:round/>
                      <a:headEnd type="none" w="med" len="med"/>
                      <a:tailEnd type="none" w="med" len="med"/>
                    </a:lnT>
                    <a:lnB w="9525" cap="flat" cmpd="sng" algn="ctr">
                      <a:solidFill>
                        <a:srgbClr val="E6DCCB"/>
                      </a:solidFill>
                      <a:prstDash val="solid"/>
                      <a:round/>
                      <a:headEnd type="none" w="med" len="med"/>
                      <a:tailEnd type="none" w="med" len="med"/>
                    </a:lnB>
                    <a:solidFill>
                      <a:srgbClr val="2D8181"/>
                    </a:solidFill>
                  </a:tcPr>
                </a:tc>
              </a:tr>
            </a:tbl>
          </a:graphicData>
        </a:graphic>
      </p:graphicFrame>
      <p:sp>
        <p:nvSpPr>
          <p:cNvPr id="4" name="Shape 1"/>
          <p:cNvSpPr/>
          <p:nvPr/>
        </p:nvSpPr>
        <p:spPr>
          <a:xfrm>
            <a:off x="6263640" y="960120"/>
            <a:ext cx="2423160" cy="2926080"/>
          </a:xfrm>
          <a:prstGeom prst="roundRect">
            <a:avLst>
              <a:gd name="adj" fmla="val 3019"/>
            </a:avLst>
          </a:prstGeom>
          <a:solidFill>
            <a:srgbClr val="FFFFFF"/>
          </a:solidFill>
          <a:ln w="12700">
            <a:solidFill>
              <a:srgbClr val="E6DCCB"/>
            </a:solidFill>
            <a:prstDash val="solid"/>
          </a:ln>
        </p:spPr>
      </p:sp>
      <p:sp>
        <p:nvSpPr>
          <p:cNvPr id="5" name="Text 2"/>
          <p:cNvSpPr txBox="1"/>
          <p:nvPr/>
        </p:nvSpPr>
        <p:spPr>
          <a:xfrm>
            <a:off x="6446520" y="1051560"/>
            <a:ext cx="2103120" cy="365760"/>
          </a:xfrm>
          <a:prstGeom prst="rect">
            <a:avLst/>
          </a:prstGeom>
          <a:noFill/>
          <a:ln/>
        </p:spPr>
        <p:txBody>
          <a:bodyPr wrap="square" lIns="0" tIns="0" rIns="0" bIns="0" rtlCol="0" anchor="ctr"/>
          <a:lstStyle/>
          <a:p>
            <a:pPr indent="0" marL="0">
              <a:buNone/>
            </a:pPr>
            <a:r>
              <a:rPr lang="en-US" sz="1700" b="1" dirty="0">
                <a:solidFill>
                  <a:srgbClr val="B85042"/>
                </a:solidFill>
                <a:latin typeface="Cambria" pitchFamily="34" charset="0"/>
                <a:ea typeface="Cambria" pitchFamily="34" charset="-122"/>
                <a:cs typeface="Cambria" pitchFamily="34" charset="-120"/>
              </a:rPr>
              <a:t>Takeaways</a:t>
            </a:r>
            <a:endParaRPr lang="en-US" sz="1700" dirty="0"/>
          </a:p>
        </p:txBody>
      </p:sp>
      <p:sp>
        <p:nvSpPr>
          <p:cNvPr id="6" name="Text 3"/>
          <p:cNvSpPr txBox="1"/>
          <p:nvPr/>
        </p:nvSpPr>
        <p:spPr>
          <a:xfrm>
            <a:off x="6446520" y="1463040"/>
            <a:ext cx="2103120" cy="2377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Ensemble: highest CV AUROC in all 4 settings</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Linear models close behind; gaps inside 95% CI</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MLP and KNN weakest, as in the paper</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Paper ensemble: 0.771 / 0.752</a:t>
            </a:r>
            <a:endParaRPr lang="en-US" sz="1250" dirty="0"/>
          </a:p>
        </p:txBody>
      </p:sp>
      <p:sp>
        <p:nvSpPr>
          <p:cNvPr id="7" name="Text 4"/>
          <p:cNvSpPr txBox="1"/>
          <p:nvPr/>
        </p:nvSpPr>
        <p:spPr>
          <a:xfrm>
            <a:off x="457200" y="3977640"/>
            <a:ext cx="5577840" cy="274320"/>
          </a:xfrm>
          <a:prstGeom prst="rect">
            <a:avLst/>
          </a:prstGeom>
          <a:noFill/>
          <a:ln/>
        </p:spPr>
        <p:txBody>
          <a:bodyPr wrap="square" lIns="0" tIns="0" rIns="0" bIns="0" rtlCol="0" anchor="ctr"/>
          <a:lstStyle/>
          <a:p>
            <a:pPr indent="0" marL="0">
              <a:buNone/>
            </a:pPr>
            <a:r>
              <a:rPr lang="en-US" sz="1100" i="1" dirty="0">
                <a:solidFill>
                  <a:srgbClr val="6B645C"/>
                </a:solidFill>
                <a:latin typeface="Calibri" pitchFamily="34" charset="0"/>
                <a:ea typeface="Calibri" pitchFamily="34" charset="-122"/>
                <a:cs typeface="Calibri" pitchFamily="34" charset="-120"/>
              </a:rPr>
              <a:t>Cell shading: darker teal = higher AUROC</a:t>
            </a:r>
            <a:endParaRPr lang="en-US" sz="1100" dirty="0"/>
          </a:p>
        </p:txBody>
      </p:sp>
      <p:sp>
        <p:nvSpPr>
          <p:cNvPr id="8" name="Text 5"/>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results/metrics.csv · test AUROC on 251 held-out patients; models selected by 10-fold CV</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Ablation and Feature Importance</a:t>
            </a:r>
            <a:endParaRPr lang="en-US" sz="2800" dirty="0"/>
          </a:p>
        </p:txBody>
      </p:sp>
      <p:graphicFrame>
        <p:nvGraphicFramePr>
          <p:cNvPr id="3" name="Chart 0" descr=""/>
          <p:cNvGraphicFramePr/>
          <p:nvPr/>
        </p:nvGraphicFramePr>
        <p:xfrm>
          <a:off x="365760" y="868680"/>
          <a:ext cx="4754880" cy="3886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394960" y="960120"/>
            <a:ext cx="3291840" cy="14173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Baseline PROMIS carries most signal</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Drop: 0.692 → 0.559 without it</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Paper saw the same: 0.770 → 0.599</a:t>
            </a:r>
            <a:endParaRPr lang="en-US" sz="1300" dirty="0"/>
          </a:p>
          <a:p>
            <a:pPr marL="342900" indent="-342900">
              <a:spcAft>
                <a:spcPts val="500"/>
              </a:spcAft>
              <a:buSzPct val="100000"/>
              <a:buChar char="•"/>
            </a:pPr>
            <a:r>
              <a:rPr lang="en-US" sz="1300" dirty="0">
                <a:solidFill>
                  <a:srgbClr val="2B2B2B"/>
                </a:solidFill>
                <a:latin typeface="Calibri" pitchFamily="34" charset="0"/>
                <a:ea typeface="Calibri" pitchFamily="34" charset="-122"/>
                <a:cs typeface="Calibri" pitchFamily="34" charset="-120"/>
              </a:rPr>
              <a:t>Any other group: change within the CI</a:t>
            </a:r>
            <a:endParaRPr lang="en-US" sz="1300" dirty="0"/>
          </a:p>
        </p:txBody>
      </p:sp>
      <p:sp>
        <p:nvSpPr>
          <p:cNvPr id="5" name="Shape 2"/>
          <p:cNvSpPr/>
          <p:nvPr/>
        </p:nvSpPr>
        <p:spPr>
          <a:xfrm>
            <a:off x="5394960" y="2514600"/>
            <a:ext cx="3291840" cy="2103120"/>
          </a:xfrm>
          <a:prstGeom prst="roundRect">
            <a:avLst>
              <a:gd name="adj" fmla="val 3478"/>
            </a:avLst>
          </a:prstGeom>
          <a:solidFill>
            <a:srgbClr val="FFFFFF"/>
          </a:solidFill>
          <a:ln w="12700">
            <a:solidFill>
              <a:srgbClr val="E6DCCB"/>
            </a:solidFill>
            <a:prstDash val="solid"/>
          </a:ln>
        </p:spPr>
      </p:sp>
      <p:sp>
        <p:nvSpPr>
          <p:cNvPr id="6" name="Text 3"/>
          <p:cNvSpPr txBox="1"/>
          <p:nvPr/>
        </p:nvSpPr>
        <p:spPr>
          <a:xfrm>
            <a:off x="5532120" y="2606040"/>
            <a:ext cx="3017520" cy="292608"/>
          </a:xfrm>
          <a:prstGeom prst="rect">
            <a:avLst/>
          </a:prstGeom>
          <a:noFill/>
          <a:ln/>
        </p:spPr>
        <p:txBody>
          <a:bodyPr wrap="square" lIns="0" tIns="0" rIns="0" bIns="0" rtlCol="0" anchor="ctr"/>
          <a:lstStyle/>
          <a:p>
            <a:pPr indent="0" marL="0">
              <a:buNone/>
            </a:pPr>
            <a:r>
              <a:rPr lang="en-US" sz="1300" b="1" dirty="0">
                <a:solidFill>
                  <a:srgbClr val="B85042"/>
                </a:solidFill>
                <a:latin typeface="Calibri" pitchFamily="34" charset="0"/>
                <a:ea typeface="Calibri" pitchFamily="34" charset="-122"/>
                <a:cs typeface="Calibri" pitchFamily="34" charset="-120"/>
              </a:rPr>
              <a:t>Top drivers (LASSO coefficients)</a:t>
            </a:r>
            <a:endParaRPr lang="en-US" sz="1300" dirty="0"/>
          </a:p>
        </p:txBody>
      </p:sp>
      <p:sp>
        <p:nvSpPr>
          <p:cNvPr id="7" name="Text 4"/>
          <p:cNvSpPr txBox="1"/>
          <p:nvPr/>
        </p:nvSpPr>
        <p:spPr>
          <a:xfrm>
            <a:off x="5532120" y="2944368"/>
            <a:ext cx="3063240" cy="16459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Drop: high baseline score → more room to fall</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Threshold: low baseline score → already near 40</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Risk ↑: cachexia, malnutrition, low albumin, high NLR, pancreatic cancer</a:t>
            </a:r>
            <a:endParaRPr lang="en-US" sz="1150" dirty="0"/>
          </a:p>
          <a:p>
            <a:pPr marL="342900" indent="-342900">
              <a:spcAft>
                <a:spcPts val="500"/>
              </a:spcAft>
              <a:buSzPct val="100000"/>
              <a:buChar char="•"/>
            </a:pPr>
            <a:r>
              <a:rPr lang="en-US" sz="1150" dirty="0">
                <a:solidFill>
                  <a:srgbClr val="2B2B2B"/>
                </a:solidFill>
                <a:latin typeface="Calibri" pitchFamily="34" charset="0"/>
                <a:ea typeface="Calibri" pitchFamily="34" charset="-122"/>
                <a:cs typeface="Calibri" pitchFamily="34" charset="-120"/>
              </a:rPr>
              <a:t>Importance ≠ causation</a:t>
            </a:r>
            <a:endParaRPr lang="en-US" sz="1150" dirty="0"/>
          </a:p>
        </p:txBody>
      </p:sp>
      <p:sp>
        <p:nvSpPr>
          <p:cNvPr id="8" name="Text 5"/>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results/ablation.csv · results/figures/top_features.png · ensemble, KNN labs, test set</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Accuracy and Decision Cut-off</a:t>
            </a:r>
            <a:endParaRPr lang="en-US" sz="2800" dirty="0"/>
          </a:p>
        </p:txBody>
      </p:sp>
      <p:graphicFrame>
        <p:nvGraphicFramePr>
          <p:cNvPr id="3" name="Chart 0" descr=""/>
          <p:cNvGraphicFramePr/>
          <p:nvPr/>
        </p:nvGraphicFramePr>
        <p:xfrm>
          <a:off x="365760" y="914400"/>
          <a:ext cx="5120640" cy="29260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760720" y="960120"/>
            <a:ext cx="2926080" cy="29260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0.5 cut-off rarely says 'yes' (Drop recall 2%)</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Cut-off chosen on training predictions, never test</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Threshold recall 24.6% → 43.9%</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Burden features: AUROC 0.692 → 0.701, accuracy unchanged</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Ceiling = model that knows the hidden frailty</a:t>
            </a:r>
            <a:endParaRPr lang="en-US" sz="1250" dirty="0"/>
          </a:p>
        </p:txBody>
      </p:sp>
      <p:sp>
        <p:nvSpPr>
          <p:cNvPr id="5" name="Shape 2"/>
          <p:cNvSpPr/>
          <p:nvPr/>
        </p:nvSpPr>
        <p:spPr>
          <a:xfrm>
            <a:off x="457200" y="4023360"/>
            <a:ext cx="8229600" cy="640080"/>
          </a:xfrm>
          <a:prstGeom prst="rect">
            <a:avLst/>
          </a:prstGeom>
          <a:solidFill>
            <a:srgbClr val="D6E9E7"/>
          </a:solidFill>
          <a:ln w="12700">
            <a:solidFill>
              <a:srgbClr val="2A7F7F"/>
            </a:solidFill>
            <a:prstDash val="solid"/>
          </a:ln>
        </p:spPr>
      </p:sp>
      <p:sp>
        <p:nvSpPr>
          <p:cNvPr id="6" name="Text 3"/>
          <p:cNvSpPr txBox="1"/>
          <p:nvPr/>
        </p:nvSpPr>
        <p:spPr>
          <a:xfrm>
            <a:off x="640080" y="4023360"/>
            <a:ext cx="7863840" cy="640080"/>
          </a:xfrm>
          <a:prstGeom prst="rect">
            <a:avLst/>
          </a:prstGeom>
          <a:noFill/>
          <a:ln/>
        </p:spPr>
        <p:txBody>
          <a:bodyPr wrap="square" lIns="0" tIns="0" rIns="0" bIns="0" rtlCol="0" anchor="ctr"/>
          <a:lstStyle/>
          <a:p>
            <a:pPr indent="0" marL="0">
              <a:buNone/>
            </a:pPr>
            <a:r>
              <a:rPr lang="en-US" sz="1400" b="1" dirty="0">
                <a:solidFill>
                  <a:srgbClr val="2B2B2B"/>
                </a:solidFill>
                <a:latin typeface="Calibri" pitchFamily="34" charset="0"/>
                <a:ea typeface="Calibri" pitchFamily="34" charset="-122"/>
                <a:cs typeface="Calibri" pitchFamily="34" charset="-120"/>
              </a:rPr>
              <a:t>Tuned accuracy 82.5% / 84.1% reaches the ~84% ceiling: the remaining errors are random noise no model can predict.</a:t>
            </a:r>
            <a:endParaRPr lang="en-US" sz="1400" dirty="0"/>
          </a:p>
        </p:txBody>
      </p:sp>
      <p:sp>
        <p:nvSpPr>
          <p:cNvPr id="7" name="Text 4"/>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results/improved/metrics.csv · docs/accuracy_ceiling.py · ensemble, KNN labs, 251 test patients</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What We Improved</a:t>
            </a:r>
            <a:endParaRPr lang="en-US" sz="2800" dirty="0"/>
          </a:p>
        </p:txBody>
      </p:sp>
      <p:sp>
        <p:nvSpPr>
          <p:cNvPr id="3" name="Shape 1"/>
          <p:cNvSpPr/>
          <p:nvPr/>
        </p:nvSpPr>
        <p:spPr>
          <a:xfrm>
            <a:off x="457200" y="1005840"/>
            <a:ext cx="2606040" cy="3017520"/>
          </a:xfrm>
          <a:prstGeom prst="roundRect">
            <a:avLst>
              <a:gd name="adj" fmla="val 2807"/>
            </a:avLst>
          </a:prstGeom>
          <a:solidFill>
            <a:srgbClr val="FFFFFF"/>
          </a:solidFill>
          <a:ln w="12700">
            <a:solidFill>
              <a:srgbClr val="E6DCCB"/>
            </a:solidFill>
            <a:prstDash val="solid"/>
          </a:ln>
        </p:spPr>
      </p:sp>
      <p:sp>
        <p:nvSpPr>
          <p:cNvPr id="4" name="Shape 2"/>
          <p:cNvSpPr/>
          <p:nvPr/>
        </p:nvSpPr>
        <p:spPr>
          <a:xfrm>
            <a:off x="640080" y="1143000"/>
            <a:ext cx="457200" cy="457200"/>
          </a:xfrm>
          <a:prstGeom prst="ellipse">
            <a:avLst/>
          </a:prstGeom>
          <a:solidFill>
            <a:srgbClr val="B85042"/>
          </a:solidFill>
          <a:ln w="12700">
            <a:solidFill>
              <a:srgbClr val="B85042"/>
            </a:solidFill>
            <a:prstDash val="solid"/>
          </a:ln>
        </p:spPr>
      </p:sp>
      <p:sp>
        <p:nvSpPr>
          <p:cNvPr id="5" name="Text 3"/>
          <p:cNvSpPr txBox="1"/>
          <p:nvPr/>
        </p:nvSpPr>
        <p:spPr>
          <a:xfrm>
            <a:off x="64008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1691640"/>
            <a:ext cx="2286000" cy="36576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Leakage-safe pipeline</a:t>
            </a:r>
            <a:endParaRPr lang="en-US" sz="1500" dirty="0"/>
          </a:p>
        </p:txBody>
      </p:sp>
      <p:sp>
        <p:nvSpPr>
          <p:cNvPr id="7" name="Text 5"/>
          <p:cNvSpPr txBox="1"/>
          <p:nvPr/>
        </p:nvSpPr>
        <p:spPr>
          <a:xfrm>
            <a:off x="640080" y="2148840"/>
            <a:ext cx="2286000" cy="17830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Preprocessing inside each CV fold</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No test-set early stopping</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Only pre-chemo events</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Post-chemo leakage test</a:t>
            </a:r>
            <a:endParaRPr lang="en-US" sz="1250" dirty="0"/>
          </a:p>
        </p:txBody>
      </p:sp>
      <p:sp>
        <p:nvSpPr>
          <p:cNvPr id="8" name="Shape 6"/>
          <p:cNvSpPr/>
          <p:nvPr/>
        </p:nvSpPr>
        <p:spPr>
          <a:xfrm>
            <a:off x="3246120" y="1005840"/>
            <a:ext cx="2606040" cy="3017520"/>
          </a:xfrm>
          <a:prstGeom prst="roundRect">
            <a:avLst>
              <a:gd name="adj" fmla="val 2807"/>
            </a:avLst>
          </a:prstGeom>
          <a:solidFill>
            <a:srgbClr val="FFFFFF"/>
          </a:solidFill>
          <a:ln w="12700">
            <a:solidFill>
              <a:srgbClr val="E6DCCB"/>
            </a:solidFill>
            <a:prstDash val="solid"/>
          </a:ln>
        </p:spPr>
      </p:sp>
      <p:sp>
        <p:nvSpPr>
          <p:cNvPr id="9" name="Shape 7"/>
          <p:cNvSpPr/>
          <p:nvPr/>
        </p:nvSpPr>
        <p:spPr>
          <a:xfrm>
            <a:off x="3429000" y="1143000"/>
            <a:ext cx="457200" cy="457200"/>
          </a:xfrm>
          <a:prstGeom prst="ellipse">
            <a:avLst/>
          </a:prstGeom>
          <a:solidFill>
            <a:srgbClr val="2A7F7F"/>
          </a:solidFill>
          <a:ln w="12700">
            <a:solidFill>
              <a:srgbClr val="2A7F7F"/>
            </a:solidFill>
            <a:prstDash val="solid"/>
          </a:ln>
        </p:spPr>
      </p:sp>
      <p:sp>
        <p:nvSpPr>
          <p:cNvPr id="10" name="Text 8"/>
          <p:cNvSpPr txBox="1"/>
          <p:nvPr/>
        </p:nvSpPr>
        <p:spPr>
          <a:xfrm>
            <a:off x="342900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3429000" y="1691640"/>
            <a:ext cx="2286000" cy="36576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More reliable evaluation</a:t>
            </a:r>
            <a:endParaRPr lang="en-US" sz="1500" dirty="0"/>
          </a:p>
        </p:txBody>
      </p:sp>
      <p:sp>
        <p:nvSpPr>
          <p:cNvPr id="12" name="Text 10"/>
          <p:cNvSpPr txBox="1"/>
          <p:nvPr/>
        </p:nvSpPr>
        <p:spPr>
          <a:xfrm>
            <a:off x="3429000" y="2148840"/>
            <a:ext cx="2286000" cy="17830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10-fold stratified CV</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Bootstrap 95% CIs</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Test set used once</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22 automated tests</a:t>
            </a:r>
            <a:endParaRPr lang="en-US" sz="1250" dirty="0"/>
          </a:p>
        </p:txBody>
      </p:sp>
      <p:sp>
        <p:nvSpPr>
          <p:cNvPr id="13" name="Shape 11"/>
          <p:cNvSpPr/>
          <p:nvPr/>
        </p:nvSpPr>
        <p:spPr>
          <a:xfrm>
            <a:off x="6035040" y="1005840"/>
            <a:ext cx="2606040" cy="3017520"/>
          </a:xfrm>
          <a:prstGeom prst="roundRect">
            <a:avLst>
              <a:gd name="adj" fmla="val 2807"/>
            </a:avLst>
          </a:prstGeom>
          <a:solidFill>
            <a:srgbClr val="FFFFFF"/>
          </a:solidFill>
          <a:ln w="12700">
            <a:solidFill>
              <a:srgbClr val="E6DCCB"/>
            </a:solidFill>
            <a:prstDash val="solid"/>
          </a:ln>
        </p:spPr>
      </p:sp>
      <p:sp>
        <p:nvSpPr>
          <p:cNvPr id="14" name="Shape 12"/>
          <p:cNvSpPr/>
          <p:nvPr/>
        </p:nvSpPr>
        <p:spPr>
          <a:xfrm>
            <a:off x="6217920" y="1143000"/>
            <a:ext cx="457200" cy="457200"/>
          </a:xfrm>
          <a:prstGeom prst="ellipse">
            <a:avLst/>
          </a:prstGeom>
          <a:solidFill>
            <a:srgbClr val="B85042"/>
          </a:solidFill>
          <a:ln w="12700">
            <a:solidFill>
              <a:srgbClr val="B85042"/>
            </a:solidFill>
            <a:prstDash val="solid"/>
          </a:ln>
        </p:spPr>
      </p:sp>
      <p:sp>
        <p:nvSpPr>
          <p:cNvPr id="15" name="Text 13"/>
          <p:cNvSpPr txBox="1"/>
          <p:nvPr/>
        </p:nvSpPr>
        <p:spPr>
          <a:xfrm>
            <a:off x="6217920" y="1143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6217920" y="1691640"/>
            <a:ext cx="2286000" cy="36576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Broader experimentation</a:t>
            </a:r>
            <a:endParaRPr lang="en-US" sz="1500" dirty="0"/>
          </a:p>
        </p:txBody>
      </p:sp>
      <p:sp>
        <p:nvSpPr>
          <p:cNvPr id="17" name="Text 15"/>
          <p:cNvSpPr txBox="1"/>
          <p:nvPr/>
        </p:nvSpPr>
        <p:spPr>
          <a:xfrm>
            <a:off x="6217920" y="2148840"/>
            <a:ext cx="2286000" cy="17830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Two lab strategies</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Feature-group ablation</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Tuned cut-off, burden features</a:t>
            </a:r>
            <a:endParaRPr lang="en-US" sz="1250" dirty="0"/>
          </a:p>
          <a:p>
            <a:pPr marL="342900" indent="-342900">
              <a:spcAft>
                <a:spcPts val="500"/>
              </a:spcAft>
              <a:buSzPct val="100000"/>
              <a:buChar char="•"/>
            </a:pPr>
            <a:r>
              <a:rPr lang="en-US" sz="1250" dirty="0">
                <a:solidFill>
                  <a:srgbClr val="2B2B2B"/>
                </a:solidFill>
                <a:latin typeface="Calibri" pitchFamily="34" charset="0"/>
                <a:ea typeface="Calibri" pitchFamily="34" charset="-122"/>
                <a:cs typeface="Calibri" pitchFamily="34" charset="-120"/>
              </a:rPr>
              <a:t>Accuracy ceiling, live demo</a:t>
            </a:r>
            <a:endParaRPr lang="en-US" sz="1250" dirty="0"/>
          </a:p>
        </p:txBody>
      </p:sp>
      <p:sp>
        <p:nvSpPr>
          <p:cNvPr id="18" name="Text 16"/>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300" i="1" dirty="0">
                <a:solidFill>
                  <a:srgbClr val="6B645C"/>
                </a:solidFill>
                <a:latin typeface="Calibri" pitchFamily="34" charset="0"/>
                <a:ea typeface="Calibri" pitchFamily="34" charset="-122"/>
                <a:cs typeface="Calibri" pitchFamily="34" charset="-120"/>
              </a:rPr>
              <a:t>Implementation and evaluation improvements, not new algorithms.</a:t>
            </a:r>
            <a:endParaRPr lang="en-US" sz="1300" dirty="0"/>
          </a:p>
        </p:txBody>
      </p:sp>
      <p:sp>
        <p:nvSpPr>
          <p:cNvPr id="19" name="Text 17"/>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README · tests/ · src/prodecline/</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2B2B2B"/>
                </a:solidFill>
                <a:latin typeface="Cambria" pitchFamily="34" charset="0"/>
                <a:ea typeface="Cambria" pitchFamily="34" charset="-122"/>
                <a:cs typeface="Cambria" pitchFamily="34" charset="-120"/>
              </a:rPr>
              <a:t>Live Demonstration</a:t>
            </a:r>
            <a:endParaRPr lang="en-US" sz="2800" dirty="0"/>
          </a:p>
        </p:txBody>
      </p:sp>
      <p:sp>
        <p:nvSpPr>
          <p:cNvPr id="3" name="Shape 1"/>
          <p:cNvSpPr/>
          <p:nvPr/>
        </p:nvSpPr>
        <p:spPr>
          <a:xfrm>
            <a:off x="457200" y="960120"/>
            <a:ext cx="3931920" cy="457200"/>
          </a:xfrm>
          <a:prstGeom prst="rect">
            <a:avLst/>
          </a:prstGeom>
          <a:solidFill>
            <a:srgbClr val="26231F"/>
          </a:solidFill>
          <a:ln w="12700">
            <a:solidFill>
              <a:srgbClr val="26231F"/>
            </a:solidFill>
            <a:prstDash val="solid"/>
          </a:ln>
        </p:spPr>
      </p:sp>
      <p:sp>
        <p:nvSpPr>
          <p:cNvPr id="4" name="Text 2"/>
          <p:cNvSpPr txBox="1"/>
          <p:nvPr/>
        </p:nvSpPr>
        <p:spPr>
          <a:xfrm>
            <a:off x="594360" y="960120"/>
            <a:ext cx="3657600" cy="457200"/>
          </a:xfrm>
          <a:prstGeom prst="rect">
            <a:avLst/>
          </a:prstGeom>
          <a:noFill/>
          <a:ln/>
        </p:spPr>
        <p:txBody>
          <a:bodyPr wrap="square" lIns="0" tIns="0" rIns="0" bIns="0"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 python demo.py --pause</a:t>
            </a:r>
            <a:endParaRPr lang="en-US" sz="1500" dirty="0"/>
          </a:p>
        </p:txBody>
      </p:sp>
      <p:sp>
        <p:nvSpPr>
          <p:cNvPr id="5" name="Shape 3"/>
          <p:cNvSpPr/>
          <p:nvPr/>
        </p:nvSpPr>
        <p:spPr>
          <a:xfrm>
            <a:off x="457200" y="1600200"/>
            <a:ext cx="310896" cy="310896"/>
          </a:xfrm>
          <a:prstGeom prst="ellipse">
            <a:avLst/>
          </a:prstGeom>
          <a:solidFill>
            <a:srgbClr val="B85042"/>
          </a:solidFill>
          <a:ln w="12700">
            <a:solidFill>
              <a:srgbClr val="B85042"/>
            </a:solidFill>
            <a:prstDash val="solid"/>
          </a:ln>
        </p:spPr>
      </p:sp>
      <p:sp>
        <p:nvSpPr>
          <p:cNvPr id="6" name="Text 4"/>
          <p:cNvSpPr txBox="1"/>
          <p:nvPr/>
        </p:nvSpPr>
        <p:spPr>
          <a:xfrm>
            <a:off x="457200" y="16002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896112" y="1600200"/>
            <a:ext cx="3474720" cy="310896"/>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Run the 22 tests</a:t>
            </a:r>
            <a:endParaRPr lang="en-US" sz="1300" dirty="0"/>
          </a:p>
        </p:txBody>
      </p:sp>
      <p:sp>
        <p:nvSpPr>
          <p:cNvPr id="8" name="Shape 6"/>
          <p:cNvSpPr/>
          <p:nvPr/>
        </p:nvSpPr>
        <p:spPr>
          <a:xfrm>
            <a:off x="457200" y="2002536"/>
            <a:ext cx="310896" cy="310896"/>
          </a:xfrm>
          <a:prstGeom prst="ellipse">
            <a:avLst/>
          </a:prstGeom>
          <a:solidFill>
            <a:srgbClr val="2A7F7F"/>
          </a:solidFill>
          <a:ln w="12700">
            <a:solidFill>
              <a:srgbClr val="2A7F7F"/>
            </a:solidFill>
            <a:prstDash val="solid"/>
          </a:ln>
        </p:spPr>
      </p:sp>
      <p:sp>
        <p:nvSpPr>
          <p:cNvPr id="9" name="Text 7"/>
          <p:cNvSpPr txBox="1"/>
          <p:nvPr/>
        </p:nvSpPr>
        <p:spPr>
          <a:xfrm>
            <a:off x="457200" y="2002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896112" y="2002536"/>
            <a:ext cx="3474720" cy="310896"/>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AUROC of every model</a:t>
            </a:r>
            <a:endParaRPr lang="en-US" sz="1300" dirty="0"/>
          </a:p>
        </p:txBody>
      </p:sp>
      <p:sp>
        <p:nvSpPr>
          <p:cNvPr id="11" name="Shape 9"/>
          <p:cNvSpPr/>
          <p:nvPr/>
        </p:nvSpPr>
        <p:spPr>
          <a:xfrm>
            <a:off x="457200" y="2404872"/>
            <a:ext cx="310896" cy="310896"/>
          </a:xfrm>
          <a:prstGeom prst="ellipse">
            <a:avLst/>
          </a:prstGeom>
          <a:solidFill>
            <a:srgbClr val="B85042"/>
          </a:solidFill>
          <a:ln w="12700">
            <a:solidFill>
              <a:srgbClr val="B85042"/>
            </a:solidFill>
            <a:prstDash val="solid"/>
          </a:ln>
        </p:spPr>
      </p:sp>
      <p:sp>
        <p:nvSpPr>
          <p:cNvPr id="12" name="Text 10"/>
          <p:cNvSpPr txBox="1"/>
          <p:nvPr/>
        </p:nvSpPr>
        <p:spPr>
          <a:xfrm>
            <a:off x="457200" y="24048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896112" y="2404872"/>
            <a:ext cx="3474720" cy="310896"/>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Accuracy before / after cut-off tuning</a:t>
            </a:r>
            <a:endParaRPr lang="en-US" sz="1300" dirty="0"/>
          </a:p>
        </p:txBody>
      </p:sp>
      <p:sp>
        <p:nvSpPr>
          <p:cNvPr id="14" name="Shape 12"/>
          <p:cNvSpPr/>
          <p:nvPr/>
        </p:nvSpPr>
        <p:spPr>
          <a:xfrm>
            <a:off x="457200" y="2807208"/>
            <a:ext cx="310896" cy="310896"/>
          </a:xfrm>
          <a:prstGeom prst="ellipse">
            <a:avLst/>
          </a:prstGeom>
          <a:solidFill>
            <a:srgbClr val="2A7F7F"/>
          </a:solidFill>
          <a:ln w="12700">
            <a:solidFill>
              <a:srgbClr val="2A7F7F"/>
            </a:solidFill>
            <a:prstDash val="solid"/>
          </a:ln>
        </p:spPr>
      </p:sp>
      <p:sp>
        <p:nvSpPr>
          <p:cNvPr id="15" name="Text 13"/>
          <p:cNvSpPr txBox="1"/>
          <p:nvPr/>
        </p:nvSpPr>
        <p:spPr>
          <a:xfrm>
            <a:off x="457200" y="2807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6" name="Text 14"/>
          <p:cNvSpPr txBox="1"/>
          <p:nvPr/>
        </p:nvSpPr>
        <p:spPr>
          <a:xfrm>
            <a:off x="896112" y="2807208"/>
            <a:ext cx="3474720" cy="310896"/>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Classification report &amp; confusion matrix</a:t>
            </a:r>
            <a:endParaRPr lang="en-US" sz="1300" dirty="0"/>
          </a:p>
        </p:txBody>
      </p:sp>
      <p:sp>
        <p:nvSpPr>
          <p:cNvPr id="17" name="Shape 15"/>
          <p:cNvSpPr/>
          <p:nvPr/>
        </p:nvSpPr>
        <p:spPr>
          <a:xfrm>
            <a:off x="457200" y="3209544"/>
            <a:ext cx="310896" cy="310896"/>
          </a:xfrm>
          <a:prstGeom prst="ellipse">
            <a:avLst/>
          </a:prstGeom>
          <a:solidFill>
            <a:srgbClr val="B85042"/>
          </a:solidFill>
          <a:ln w="12700">
            <a:solidFill>
              <a:srgbClr val="B85042"/>
            </a:solidFill>
            <a:prstDash val="solid"/>
          </a:ln>
        </p:spPr>
      </p:sp>
      <p:sp>
        <p:nvSpPr>
          <p:cNvPr id="18" name="Text 16"/>
          <p:cNvSpPr txBox="1"/>
          <p:nvPr/>
        </p:nvSpPr>
        <p:spPr>
          <a:xfrm>
            <a:off x="457200" y="32095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9" name="Text 17"/>
          <p:cNvSpPr txBox="1"/>
          <p:nvPr/>
        </p:nvSpPr>
        <p:spPr>
          <a:xfrm>
            <a:off x="896112" y="3209544"/>
            <a:ext cx="3474720" cy="310896"/>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Classify test patients one by one</a:t>
            </a:r>
            <a:endParaRPr lang="en-US" sz="1300" dirty="0"/>
          </a:p>
        </p:txBody>
      </p:sp>
      <p:sp>
        <p:nvSpPr>
          <p:cNvPr id="20" name="Shape 18"/>
          <p:cNvSpPr/>
          <p:nvPr/>
        </p:nvSpPr>
        <p:spPr>
          <a:xfrm>
            <a:off x="457200" y="3611880"/>
            <a:ext cx="310896" cy="310896"/>
          </a:xfrm>
          <a:prstGeom prst="ellipse">
            <a:avLst/>
          </a:prstGeom>
          <a:solidFill>
            <a:srgbClr val="2A7F7F"/>
          </a:solidFill>
          <a:ln w="12700">
            <a:solidFill>
              <a:srgbClr val="2A7F7F"/>
            </a:solidFill>
            <a:prstDash val="solid"/>
          </a:ln>
        </p:spPr>
      </p:sp>
      <p:sp>
        <p:nvSpPr>
          <p:cNvPr id="21" name="Text 19"/>
          <p:cNvSpPr txBox="1"/>
          <p:nvPr/>
        </p:nvSpPr>
        <p:spPr>
          <a:xfrm>
            <a:off x="457200" y="361188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2" name="Text 20"/>
          <p:cNvSpPr txBox="1"/>
          <p:nvPr/>
        </p:nvSpPr>
        <p:spPr>
          <a:xfrm>
            <a:off x="896112" y="3611880"/>
            <a:ext cx="3474720" cy="310896"/>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Show the accuracy ceiling</a:t>
            </a:r>
            <a:endParaRPr lang="en-US" sz="1300" dirty="0"/>
          </a:p>
        </p:txBody>
      </p:sp>
      <p:sp>
        <p:nvSpPr>
          <p:cNvPr id="23" name="Text 21"/>
          <p:cNvSpPr txBox="1"/>
          <p:nvPr/>
        </p:nvSpPr>
        <p:spPr>
          <a:xfrm>
            <a:off x="457200" y="4069080"/>
            <a:ext cx="3931920" cy="457200"/>
          </a:xfrm>
          <a:prstGeom prst="rect">
            <a:avLst/>
          </a:prstGeom>
          <a:noFill/>
          <a:ln/>
        </p:spPr>
        <p:txBody>
          <a:bodyPr wrap="square" lIns="0" tIns="0" rIns="0" bIns="0" rtlCol="0" anchor="t"/>
          <a:lstStyle/>
          <a:p>
            <a:pPr indent="0" marL="0">
              <a:buNone/>
            </a:pPr>
            <a:r>
              <a:rPr lang="en-US" sz="1100" i="1" dirty="0">
                <a:solidFill>
                  <a:srgbClr val="6B645C"/>
                </a:solidFill>
                <a:latin typeface="Calibri" pitchFamily="34" charset="0"/>
                <a:ea typeface="Calibri" pitchFamily="34" charset="-122"/>
                <a:cs typeface="Calibri" pitchFamily="34" charset="-120"/>
              </a:rPr>
              <a:t>Saved models; no retraining. Full training: python -m prodecline all</a:t>
            </a:r>
            <a:endParaRPr lang="en-US" sz="1100" dirty="0"/>
          </a:p>
        </p:txBody>
      </p:sp>
      <p:sp>
        <p:nvSpPr>
          <p:cNvPr id="24" name="Shape 22"/>
          <p:cNvSpPr/>
          <p:nvPr/>
        </p:nvSpPr>
        <p:spPr>
          <a:xfrm>
            <a:off x="4663440" y="960120"/>
            <a:ext cx="4023360" cy="2926080"/>
          </a:xfrm>
          <a:prstGeom prst="roundRect">
            <a:avLst>
              <a:gd name="adj" fmla="val 2500"/>
            </a:avLst>
          </a:prstGeom>
          <a:solidFill>
            <a:srgbClr val="FFFFFF"/>
          </a:solidFill>
          <a:ln w="12700">
            <a:solidFill>
              <a:srgbClr val="E6DCCB"/>
            </a:solidFill>
            <a:prstDash val="solid"/>
          </a:ln>
        </p:spPr>
      </p:sp>
      <p:sp>
        <p:nvSpPr>
          <p:cNvPr id="25" name="Text 23"/>
          <p:cNvSpPr txBox="1"/>
          <p:nvPr/>
        </p:nvSpPr>
        <p:spPr>
          <a:xfrm>
            <a:off x="4800600" y="1024128"/>
            <a:ext cx="3749040" cy="274320"/>
          </a:xfrm>
          <a:prstGeom prst="rect">
            <a:avLst/>
          </a:prstGeom>
          <a:noFill/>
          <a:ln/>
        </p:spPr>
        <p:txBody>
          <a:bodyPr wrap="square" lIns="0" tIns="0" rIns="0" bIns="0" rtlCol="0" anchor="ctr"/>
          <a:lstStyle/>
          <a:p>
            <a:pPr indent="0" marL="0">
              <a:buNone/>
            </a:pPr>
            <a:r>
              <a:rPr lang="en-US" sz="1200" b="1" dirty="0">
                <a:solidFill>
                  <a:srgbClr val="B85042"/>
                </a:solidFill>
                <a:latin typeface="Calibri" pitchFamily="34" charset="0"/>
                <a:ea typeface="Calibri" pitchFamily="34" charset="-122"/>
                <a:cs typeface="Calibri" pitchFamily="34" charset="-120"/>
              </a:rPr>
              <a:t>Real output: Drop, first test patients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800600" y="1371600"/>
          <a:ext cx="3749040" cy="914400"/>
        </p:xfrm>
        <a:graphic>
          <a:graphicData uri="http://schemas.openxmlformats.org/drawingml/2006/table">
            <a:tbl>
              <a:tblPr/>
              <a:tblGrid>
                <a:gridCol w="685800"/>
                <a:gridCol w="621792"/>
                <a:gridCol w="777240"/>
                <a:gridCol w="594360"/>
                <a:gridCol w="502920"/>
                <a:gridCol w="566928"/>
              </a:tblGrid>
              <a:tr h="24688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patient</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2A7F7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base GPH</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2A7F7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cancer</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2A7F7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P(drop)</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2A7F7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pred.</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2A7F7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actual</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2A7F7F"/>
                    </a:solidFill>
                  </a:tcPr>
                </a:tc>
              </a:tr>
              <a:tr h="24688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P00011</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48.0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B2B"/>
                          </a:solidFill>
                          <a:latin typeface="Calibri" pitchFamily="34" charset="0"/>
                          <a:ea typeface="Calibri" pitchFamily="34" charset="-122"/>
                          <a:cs typeface="Calibri" pitchFamily="34" charset="-120"/>
                        </a:rPr>
                        <a:t>lung</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0.14</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5042"/>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504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P00024</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45.4</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B2B"/>
                          </a:solidFill>
                          <a:latin typeface="Calibri" pitchFamily="34" charset="0"/>
                          <a:ea typeface="Calibri" pitchFamily="34" charset="-122"/>
                          <a:cs typeface="Calibri" pitchFamily="34" charset="-120"/>
                        </a:rPr>
                        <a:t>lymphoma</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0.19</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P00033</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49.7</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B2B"/>
                          </a:solidFill>
                          <a:latin typeface="Calibri" pitchFamily="34" charset="0"/>
                          <a:ea typeface="Calibri" pitchFamily="34" charset="-122"/>
                          <a:cs typeface="Calibri" pitchFamily="34" charset="-120"/>
                        </a:rPr>
                        <a:t>pancreatic</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0.25</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P00035</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59.2</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B2B"/>
                          </a:solidFill>
                          <a:latin typeface="Calibri" pitchFamily="34" charset="0"/>
                          <a:ea typeface="Calibri" pitchFamily="34" charset="-122"/>
                          <a:cs typeface="Calibri" pitchFamily="34" charset="-120"/>
                        </a:rPr>
                        <a:t>other</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0.16</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P00043</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57.0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B2B"/>
                          </a:solidFill>
                          <a:latin typeface="Calibri" pitchFamily="34" charset="0"/>
                          <a:ea typeface="Calibri" pitchFamily="34" charset="-122"/>
                          <a:cs typeface="Calibri" pitchFamily="34" charset="-120"/>
                        </a:rPr>
                        <a:t>lymphoma</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r>
              <a:tr h="246888">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P00044</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54.4</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B2B2B"/>
                          </a:solidFill>
                          <a:latin typeface="Calibri" pitchFamily="34" charset="0"/>
                          <a:ea typeface="Calibri" pitchFamily="34" charset="-122"/>
                          <a:cs typeface="Calibri" pitchFamily="34" charset="-120"/>
                        </a:rPr>
                        <a:t>gastric</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Calibri" pitchFamily="34" charset="0"/>
                          <a:ea typeface="Calibri" pitchFamily="34" charset="-122"/>
                          <a:cs typeface="Calibri" pitchFamily="34" charset="-120"/>
                        </a:rPr>
                        <a:t>0.36</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504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5042"/>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36576" marR="36576" marT="18288" marB="18288" anchor="ctr">
                    <a:lnL w="6350" cap="flat" cmpd="sng" algn="ctr">
                      <a:solidFill>
                        <a:srgbClr val="E6DCCB"/>
                      </a:solidFill>
                      <a:prstDash val="solid"/>
                      <a:round/>
                      <a:headEnd type="none" w="med" len="med"/>
                      <a:tailEnd type="none" w="med" len="med"/>
                    </a:lnL>
                    <a:lnR w="6350" cap="flat" cmpd="sng" algn="ctr">
                      <a:solidFill>
                        <a:srgbClr val="E6DCCB"/>
                      </a:solidFill>
                      <a:prstDash val="solid"/>
                      <a:round/>
                      <a:headEnd type="none" w="med" len="med"/>
                      <a:tailEnd type="none" w="med" len="med"/>
                    </a:lnR>
                    <a:lnT w="6350" cap="flat" cmpd="sng" algn="ctr">
                      <a:solidFill>
                        <a:srgbClr val="E6DCCB"/>
                      </a:solidFill>
                      <a:prstDash val="solid"/>
                      <a:round/>
                      <a:headEnd type="none" w="med" len="med"/>
                      <a:tailEnd type="none" w="med" len="med"/>
                    </a:lnT>
                    <a:lnB w="6350" cap="flat" cmpd="sng" algn="ctr">
                      <a:solidFill>
                        <a:srgbClr val="E6DCCB"/>
                      </a:solidFill>
                      <a:prstDash val="solid"/>
                      <a:round/>
                      <a:headEnd type="none" w="med" len="med"/>
                      <a:tailEnd type="none" w="med" len="med"/>
                    </a:lnB>
                    <a:solidFill>
                      <a:srgbClr val="FFFFFF"/>
                    </a:solidFill>
                  </a:tcPr>
                </a:tc>
              </a:tr>
            </a:tbl>
          </a:graphicData>
        </a:graphic>
      </p:graphicFrame>
      <p:sp>
        <p:nvSpPr>
          <p:cNvPr id="27" name="Text 24"/>
          <p:cNvSpPr txBox="1"/>
          <p:nvPr/>
        </p:nvSpPr>
        <p:spPr>
          <a:xfrm>
            <a:off x="4800600" y="3200400"/>
            <a:ext cx="3749040" cy="594360"/>
          </a:xfrm>
          <a:prstGeom prst="rect">
            <a:avLst/>
          </a:prstGeom>
          <a:noFill/>
          <a:ln/>
        </p:spPr>
        <p:txBody>
          <a:bodyPr wrap="square" lIns="0" tIns="0" rIns="0" bIns="0" rtlCol="0" anchor="t"/>
          <a:lstStyle/>
          <a:p>
            <a:pPr indent="0" marL="0">
              <a:buNone/>
            </a:pPr>
            <a:r>
              <a:rPr lang="en-US" sz="1150" dirty="0">
                <a:solidFill>
                  <a:srgbClr val="6B645C"/>
                </a:solidFill>
                <a:latin typeface="Calibri" pitchFamily="34" charset="0"/>
                <a:ea typeface="Calibri" pitchFamily="34" charset="-122"/>
                <a:cs typeface="Calibri" pitchFamily="34" charset="-120"/>
              </a:rPr>
              <a:t>Cut-off 0.33 (chosen on training data). Whole test set: 207 / 251 correct = 82.5%</a:t>
            </a:r>
            <a:endParaRPr lang="en-US" sz="1150" dirty="0"/>
          </a:p>
        </p:txBody>
      </p:sp>
      <p:sp>
        <p:nvSpPr>
          <p:cNvPr id="28" name="Shape 25"/>
          <p:cNvSpPr/>
          <p:nvPr/>
        </p:nvSpPr>
        <p:spPr>
          <a:xfrm>
            <a:off x="4663440" y="4023360"/>
            <a:ext cx="4023360" cy="502920"/>
          </a:xfrm>
          <a:prstGeom prst="rect">
            <a:avLst/>
          </a:prstGeom>
          <a:solidFill>
            <a:srgbClr val="F1DDD3"/>
          </a:solidFill>
          <a:ln w="12700">
            <a:solidFill>
              <a:srgbClr val="B85042"/>
            </a:solidFill>
            <a:prstDash val="solid"/>
          </a:ln>
        </p:spPr>
      </p:sp>
      <p:sp>
        <p:nvSpPr>
          <p:cNvPr id="29" name="Text 26"/>
          <p:cNvSpPr txBox="1"/>
          <p:nvPr/>
        </p:nvSpPr>
        <p:spPr>
          <a:xfrm>
            <a:off x="4663440" y="4023360"/>
            <a:ext cx="4023360" cy="502920"/>
          </a:xfrm>
          <a:prstGeom prst="rect">
            <a:avLst/>
          </a:prstGeom>
          <a:noFill/>
          <a:ln/>
        </p:spPr>
        <p:txBody>
          <a:bodyPr wrap="square" lIns="0" tIns="0" rIns="0" bIns="0" rtlCol="0" anchor="ctr"/>
          <a:lstStyle/>
          <a:p>
            <a:pPr algn="ctr" indent="0" marL="0">
              <a:buNone/>
            </a:pPr>
            <a:r>
              <a:rPr lang="en-US" sz="1400" b="1" dirty="0">
                <a:solidFill>
                  <a:srgbClr val="2B2B2B"/>
                </a:solidFill>
                <a:latin typeface="Calibri" pitchFamily="34" charset="0"/>
                <a:ea typeface="Calibri" pitchFamily="34" charset="-122"/>
                <a:cs typeface="Calibri" pitchFamily="34" charset="-120"/>
              </a:rPr>
              <a:t>~40 s demo  vs  ~13 min full training</a:t>
            </a:r>
            <a:endParaRPr lang="en-US" sz="1400" dirty="0"/>
          </a:p>
        </p:txBody>
      </p:sp>
      <p:sp>
        <p:nvSpPr>
          <p:cNvPr id="30" name="Text 27"/>
          <p:cNvSpPr txBox="1"/>
          <p:nvPr/>
        </p:nvSpPr>
        <p:spPr>
          <a:xfrm>
            <a:off x="457200" y="4828032"/>
            <a:ext cx="7772400" cy="228600"/>
          </a:xfrm>
          <a:prstGeom prst="rect">
            <a:avLst/>
          </a:prstGeom>
          <a:noFill/>
          <a:ln/>
        </p:spPr>
        <p:txBody>
          <a:bodyPr wrap="square" lIns="0" tIns="0" rIns="0" bIns="0" rtlCol="0" anchor="ctr"/>
          <a:lstStyle/>
          <a:p>
            <a:pPr indent="0" marL="0">
              <a:buNone/>
            </a:pPr>
            <a:r>
              <a:rPr lang="en-US" sz="1000" i="1" dirty="0">
                <a:solidFill>
                  <a:srgbClr val="6B645C"/>
                </a:solidFill>
                <a:latin typeface="Calibri" pitchFamily="34" charset="0"/>
                <a:ea typeface="Calibri" pitchFamily="34" charset="-122"/>
                <a:cs typeface="Calibri" pitchFamily="34" charset="-120"/>
              </a:rPr>
              <a:t>Source: demo.py · docs/check_patients.py · rows in red are misclassified</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6B645C"/>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Conclusion and Future Work</a:t>
            </a:r>
            <a:endParaRPr lang="en-US" sz="2800" dirty="0"/>
          </a:p>
        </p:txBody>
      </p:sp>
      <p:sp>
        <p:nvSpPr>
          <p:cNvPr id="3" name="Shape 1"/>
          <p:cNvSpPr/>
          <p:nvPr/>
        </p:nvSpPr>
        <p:spPr>
          <a:xfrm>
            <a:off x="457200" y="1005840"/>
            <a:ext cx="2651760" cy="2743200"/>
          </a:xfrm>
          <a:prstGeom prst="roundRect">
            <a:avLst>
              <a:gd name="adj" fmla="val 2759"/>
            </a:avLst>
          </a:prstGeom>
          <a:solidFill>
            <a:srgbClr val="3A352E"/>
          </a:solidFill>
          <a:ln w="12700">
            <a:solidFill>
              <a:srgbClr val="4A443B"/>
            </a:solidFill>
            <a:prstDash val="solid"/>
          </a:ln>
        </p:spPr>
      </p:sp>
      <p:sp>
        <p:nvSpPr>
          <p:cNvPr id="4" name="Text 2"/>
          <p:cNvSpPr txBox="1"/>
          <p:nvPr/>
        </p:nvSpPr>
        <p:spPr>
          <a:xfrm>
            <a:off x="640080" y="1143000"/>
            <a:ext cx="2286000" cy="365760"/>
          </a:xfrm>
          <a:prstGeom prst="rect">
            <a:avLst/>
          </a:prstGeom>
          <a:noFill/>
          <a:ln/>
        </p:spPr>
        <p:txBody>
          <a:bodyPr wrap="square" lIns="0" tIns="0" rIns="0" bIns="0" rtlCol="0" anchor="ctr"/>
          <a:lstStyle/>
          <a:p>
            <a:pPr indent="0" marL="0">
              <a:buNone/>
            </a:pPr>
            <a:r>
              <a:rPr lang="en-US" sz="1700" b="1" dirty="0">
                <a:solidFill>
                  <a:srgbClr val="E4B8A8"/>
                </a:solidFill>
                <a:latin typeface="Cambria" pitchFamily="34" charset="0"/>
                <a:ea typeface="Cambria" pitchFamily="34" charset="-122"/>
                <a:cs typeface="Cambria" pitchFamily="34" charset="-120"/>
              </a:rPr>
              <a:t>Conclusions</a:t>
            </a:r>
            <a:endParaRPr lang="en-US" sz="1700" dirty="0"/>
          </a:p>
        </p:txBody>
      </p:sp>
      <p:sp>
        <p:nvSpPr>
          <p:cNvPr id="5" name="Text 3"/>
          <p:cNvSpPr txBox="1"/>
          <p:nvPr/>
        </p:nvSpPr>
        <p:spPr>
          <a:xfrm>
            <a:off x="640080" y="1554480"/>
            <a:ext cx="2331720" cy="21488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Ensemble most robust by CV</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Baseline PROMIS score dominates</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Top-risk fifth: 42% decline vs 10%</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Tuned accuracy 82.5% / 84.1%</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Paper's findings reproduced</a:t>
            </a:r>
            <a:endParaRPr lang="en-US" sz="1250" dirty="0"/>
          </a:p>
        </p:txBody>
      </p:sp>
      <p:sp>
        <p:nvSpPr>
          <p:cNvPr id="6" name="Shape 4"/>
          <p:cNvSpPr/>
          <p:nvPr/>
        </p:nvSpPr>
        <p:spPr>
          <a:xfrm>
            <a:off x="3291840" y="1005840"/>
            <a:ext cx="2651760" cy="2743200"/>
          </a:xfrm>
          <a:prstGeom prst="roundRect">
            <a:avLst>
              <a:gd name="adj" fmla="val 2759"/>
            </a:avLst>
          </a:prstGeom>
          <a:solidFill>
            <a:srgbClr val="3A352E"/>
          </a:solidFill>
          <a:ln w="12700">
            <a:solidFill>
              <a:srgbClr val="4A443B"/>
            </a:solidFill>
            <a:prstDash val="solid"/>
          </a:ln>
        </p:spPr>
      </p:sp>
      <p:sp>
        <p:nvSpPr>
          <p:cNvPr id="7" name="Text 5"/>
          <p:cNvSpPr txBox="1"/>
          <p:nvPr/>
        </p:nvSpPr>
        <p:spPr>
          <a:xfrm>
            <a:off x="3474720" y="1143000"/>
            <a:ext cx="2286000" cy="365760"/>
          </a:xfrm>
          <a:prstGeom prst="rect">
            <a:avLst/>
          </a:prstGeom>
          <a:noFill/>
          <a:ln/>
        </p:spPr>
        <p:txBody>
          <a:bodyPr wrap="square" lIns="0" tIns="0" rIns="0" bIns="0" rtlCol="0" anchor="ctr"/>
          <a:lstStyle/>
          <a:p>
            <a:pPr indent="0" marL="0">
              <a:buNone/>
            </a:pPr>
            <a:r>
              <a:rPr lang="en-US" sz="1700" b="1" dirty="0">
                <a:solidFill>
                  <a:srgbClr val="7FC4C0"/>
                </a:solidFill>
                <a:latin typeface="Cambria" pitchFamily="34" charset="0"/>
                <a:ea typeface="Cambria" pitchFamily="34" charset="-122"/>
                <a:cs typeface="Cambria" pitchFamily="34" charset="-120"/>
              </a:rPr>
              <a:t>Limitations</a:t>
            </a:r>
            <a:endParaRPr lang="en-US" sz="1700" dirty="0"/>
          </a:p>
        </p:txBody>
      </p:sp>
      <p:sp>
        <p:nvSpPr>
          <p:cNvPr id="8" name="Text 6"/>
          <p:cNvSpPr txBox="1"/>
          <p:nvPr/>
        </p:nvSpPr>
        <p:spPr>
          <a:xfrm>
            <a:off x="3474720" y="1554480"/>
            <a:ext cx="2331720" cy="21488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Simulated data, not real patients</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Single train / test split</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Ensemble CV slightly optimistic</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Accuracy at the noise ceiling</a:t>
            </a:r>
            <a:endParaRPr lang="en-US" sz="1250" dirty="0"/>
          </a:p>
        </p:txBody>
      </p:sp>
      <p:sp>
        <p:nvSpPr>
          <p:cNvPr id="9" name="Shape 7"/>
          <p:cNvSpPr/>
          <p:nvPr/>
        </p:nvSpPr>
        <p:spPr>
          <a:xfrm>
            <a:off x="6126480" y="1005840"/>
            <a:ext cx="2651760" cy="2743200"/>
          </a:xfrm>
          <a:prstGeom prst="roundRect">
            <a:avLst>
              <a:gd name="adj" fmla="val 2759"/>
            </a:avLst>
          </a:prstGeom>
          <a:solidFill>
            <a:srgbClr val="3A352E"/>
          </a:solidFill>
          <a:ln w="12700">
            <a:solidFill>
              <a:srgbClr val="4A443B"/>
            </a:solidFill>
            <a:prstDash val="solid"/>
          </a:ln>
        </p:spPr>
      </p:sp>
      <p:sp>
        <p:nvSpPr>
          <p:cNvPr id="10" name="Text 8"/>
          <p:cNvSpPr txBox="1"/>
          <p:nvPr/>
        </p:nvSpPr>
        <p:spPr>
          <a:xfrm>
            <a:off x="6309360" y="1143000"/>
            <a:ext cx="2286000" cy="365760"/>
          </a:xfrm>
          <a:prstGeom prst="rect">
            <a:avLst/>
          </a:prstGeom>
          <a:noFill/>
          <a:ln/>
        </p:spPr>
        <p:txBody>
          <a:bodyPr wrap="square" lIns="0" tIns="0" rIns="0" bIns="0" rtlCol="0" anchor="ctr"/>
          <a:lstStyle/>
          <a:p>
            <a:pPr indent="0" marL="0">
              <a:buNone/>
            </a:pPr>
            <a:r>
              <a:rPr lang="en-US" sz="1700" b="1" dirty="0">
                <a:solidFill>
                  <a:srgbClr val="E4B8A8"/>
                </a:solidFill>
                <a:latin typeface="Cambria" pitchFamily="34" charset="0"/>
                <a:ea typeface="Cambria" pitchFamily="34" charset="-122"/>
                <a:cs typeface="Cambria" pitchFamily="34" charset="-120"/>
              </a:rPr>
              <a:t>Future work</a:t>
            </a:r>
            <a:endParaRPr lang="en-US" sz="1700" dirty="0"/>
          </a:p>
        </p:txBody>
      </p:sp>
      <p:sp>
        <p:nvSpPr>
          <p:cNvPr id="11" name="Text 9"/>
          <p:cNvSpPr txBox="1"/>
          <p:nvPr/>
        </p:nvSpPr>
        <p:spPr>
          <a:xfrm>
            <a:off x="6309360" y="1554480"/>
            <a:ext cx="2331720" cy="21488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Validate on real EHR (MIMIC-IV)</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Nested cross-validation</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Calibration analysis</a:t>
            </a:r>
            <a:endParaRPr lang="en-US" sz="1250" dirty="0"/>
          </a:p>
          <a:p>
            <a:pPr marL="342900" indent="-342900">
              <a:spcAft>
                <a:spcPts val="500"/>
              </a:spcAft>
              <a:buSzPct val="100000"/>
              <a:buChar char="•"/>
            </a:pPr>
            <a:r>
              <a:rPr lang="en-US" sz="1250" dirty="0">
                <a:solidFill>
                  <a:srgbClr val="F0E8DA"/>
                </a:solidFill>
                <a:latin typeface="Calibri" pitchFamily="34" charset="0"/>
                <a:ea typeface="Calibri" pitchFamily="34" charset="-122"/>
                <a:cs typeface="Calibri" pitchFamily="34" charset="-120"/>
              </a:rPr>
              <a:t>Weighted ensemble votes</a:t>
            </a:r>
            <a:endParaRPr lang="en-US" sz="1250" dirty="0"/>
          </a:p>
        </p:txBody>
      </p:sp>
      <p:sp>
        <p:nvSpPr>
          <p:cNvPr id="12" name="Text 10"/>
          <p:cNvSpPr txBox="1"/>
          <p:nvPr/>
        </p:nvSpPr>
        <p:spPr>
          <a:xfrm>
            <a:off x="457200" y="3886200"/>
            <a:ext cx="8229600" cy="457200"/>
          </a:xfrm>
          <a:prstGeom prst="rect">
            <a:avLst/>
          </a:prstGeom>
          <a:noFill/>
          <a:ln/>
        </p:spPr>
        <p:txBody>
          <a:bodyPr wrap="square" lIns="0" tIns="0" rIns="0" bIns="0" rtlCol="0" anchor="ctr"/>
          <a:lstStyle/>
          <a:p>
            <a:pPr indent="0" marL="0">
              <a:buNone/>
            </a:pPr>
            <a:r>
              <a:rPr lang="en-US" sz="1800" i="1" dirty="0">
                <a:solidFill>
                  <a:srgbClr val="F4E2B8"/>
                </a:solidFill>
                <a:latin typeface="Cambria" pitchFamily="34" charset="0"/>
                <a:ea typeface="Cambria" pitchFamily="34" charset="-122"/>
                <a:cs typeface="Cambria" pitchFamily="34" charset="-120"/>
              </a:rPr>
              <a:t>Flag high-risk patients before the first dose, using only what is known at that moment.</a:t>
            </a:r>
            <a:endParaRPr lang="en-US" sz="1800" dirty="0"/>
          </a:p>
        </p:txBody>
      </p:sp>
      <p:sp>
        <p:nvSpPr>
          <p:cNvPr id="13" name="Text 11"/>
          <p:cNvSpPr txBox="1"/>
          <p:nvPr/>
        </p:nvSpPr>
        <p:spPr>
          <a:xfrm>
            <a:off x="457200" y="4480560"/>
            <a:ext cx="8229600" cy="365760"/>
          </a:xfrm>
          <a:prstGeom prst="rect">
            <a:avLst/>
          </a:prstGeom>
          <a:noFill/>
          <a:ln/>
        </p:spPr>
        <p:txBody>
          <a:bodyPr wrap="square" lIns="0" tIns="0" rIns="0" bIns="0" rtlCol="0" anchor="ctr"/>
          <a:lstStyle/>
          <a:p>
            <a:pPr indent="0" marL="0">
              <a:buNone/>
            </a:pPr>
            <a:r>
              <a:rPr lang="en-US" sz="1000" dirty="0">
                <a:solidFill>
                  <a:srgbClr val="BDB3A5"/>
                </a:solidFill>
                <a:latin typeface="Calibri" pitchFamily="34" charset="0"/>
                <a:ea typeface="Calibri" pitchFamily="34" charset="-122"/>
                <a:cs typeface="Calibri" pitchFamily="34" charset="-120"/>
              </a:rPr>
              <a:t>github.com/minkysponge-wq/pro-decline-prediction   ·   Ostberg &amp; Peterson (2020), Predicting a Decline in Patient Reported Outcomes for Cancer Patients on Chemotherapy, CS229</a:t>
            </a:r>
            <a:endParaRPr lang="en-US" sz="1000" dirty="0"/>
          </a:p>
        </p:txBody>
      </p:sp>
    </p:spTree>
  </p:cSld>
  <p:clrMapOvr>
    <a:masterClrMapping/>
  </p:clrMapOvr>
</p:sld>
</file>

<file path=ppt/theme/theme1.xml><?xml version="1.0" encoding="utf-8"?>
<a:theme xmlns:a="http://schemas.openxmlformats.org/drawingml/2006/main" name="PRO Decline">
  <a:themeElements>
    <a:clrScheme name="PRO Decline">
      <a:dk1>
        <a:srgbClr val="2B2B2B"/>
      </a:dk1>
      <a:lt1>
        <a:srgbClr val="FFFFFF"/>
      </a:lt1>
      <a:dk2>
        <a:srgbClr val="26231F"/>
      </a:dk2>
      <a:lt2>
        <a:srgbClr val="F7F1E7"/>
      </a:lt2>
      <a:accent1>
        <a:srgbClr val="B85042"/>
      </a:accent1>
      <a:accent2>
        <a:srgbClr val="2A7F7F"/>
      </a:accent2>
      <a:accent3>
        <a:srgbClr val="E4B8A8"/>
      </a:accent3>
      <a:accent4>
        <a:srgbClr val="7FC4C0"/>
      </a:accent4>
      <a:accent5>
        <a:srgbClr val="6B645C"/>
      </a:accent5>
      <a:accent6>
        <a:srgbClr val="F4E2B8"/>
      </a:accent6>
      <a:hlink>
        <a:srgbClr val="2A7F7F"/>
      </a:hlink>
      <a:folHlink>
        <a:srgbClr val="6B645C"/>
      </a:folHlink>
    </a:clrScheme>
    <a:fontScheme name="PRO Dec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a Decline in Patient-Reported Outcomes</dc:title>
  <dc:subject>PptxGenJS Presentation</dc:subject>
  <dc:creator>Sampreeth Jaladi, Sharvesh K</dc:creator>
  <cp:lastModifiedBy>Sampreeth Jaladi, Sharvesh K</cp:lastModifiedBy>
  <cp:revision>1</cp:revision>
  <dcterms:created xsi:type="dcterms:W3CDTF">2026-10-15T08:26:16Z</dcterms:created>
  <dcterms:modified xsi:type="dcterms:W3CDTF">2026-10-15T08:26:16Z</dcterms:modified>
</cp:coreProperties>
</file>